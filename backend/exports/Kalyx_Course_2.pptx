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INSTRUCTOR NOTES ===</a:t>
            </a:r>
          </a:p>
          <a:p/>
          <a:p>
            <a:r>
              <a:t>TALKING POINTS:</a:t>
            </a:r>
          </a:p>
          <a:p>
            <a:r>
              <a:t>- Academic Formulation: Welcome students and emphasize the shift from deterministic coding to predictive learning models.</a:t>
            </a:r>
          </a:p>
          <a:p>
            <a:r>
              <a:t>- Academic Formulation: Stress that ML is about finding mathematical approximations from empirical data.</a:t>
            </a:r>
          </a:p>
          <a:p>
            <a:r>
              <a:t>- Academic Formulation: Walk through the outline of the four distinct modules of the curriculum.</a:t>
            </a:r>
          </a:p>
          <a:p>
            <a:r>
              <a:t>- Academic Formulation: Emphasize the coding exercises and practical dataset integrations required.</a:t>
            </a:r>
          </a:p>
          <a:p>
            <a:r>
              <a:t>- Academic Formulation: Highlight how evaluation metrics will be modeled across engineering standards.</a:t>
            </a:r>
          </a:p>
          <a:p>
            <a:r>
              <a:t>- Academic Formulation: Ensure students understand local workspace setups and python package requirements.</a:t>
            </a:r>
          </a:p>
          <a:p/>
          <a:p>
            <a:r>
              <a:t>TEACHING TIP:</a:t>
            </a:r>
          </a:p>
          <a:p>
            <a:r>
              <a:t>Break the ice by asking how many ML models students interact with daily (recommendations, search engines, keyboard auto-correct).</a:t>
            </a:r>
          </a:p>
          <a:p/>
          <a:p>
            <a:r>
              <a:t>CLARIFYING EXAMPLES:</a:t>
            </a:r>
          </a:p>
          <a:p>
            <a:r>
              <a:t>- Predictive keyboards</a:t>
            </a:r>
          </a:p>
          <a:p>
            <a:r>
              <a:t>- Streaming service recommendations</a:t>
            </a:r>
          </a:p>
          <a:p>
            <a:r>
              <a:t>- Self-driving lane detection</a:t>
            </a:r>
          </a:p>
          <a:p>
            <a:r>
              <a:t>- Weather forecasting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INSTRUCTOR NOTES ===</a:t>
            </a:r>
          </a:p>
          <a:p/>
          <a:p>
            <a:r>
              <a:t>TALKING POINTS:</a:t>
            </a:r>
          </a:p>
          <a:p>
            <a:r>
              <a:t>- Academic Formulation: Explain the formal relationship: y = f(X) + epsilon.</a:t>
            </a:r>
          </a:p>
          <a:p>
            <a:r>
              <a:t>- Academic Formulation: Clarify that epsilon represents irreducible noise present in real-world measurements.</a:t>
            </a:r>
          </a:p>
          <a:p>
            <a:r>
              <a:t>- Academic Formulation: Clearly outline the difference between continuous values and discrete classes.</a:t>
            </a:r>
          </a:p>
          <a:p>
            <a:r>
              <a:t>- Academic Formulation: Detail the concept of validation splitting to check model generalization.</a:t>
            </a:r>
          </a:p>
          <a:p>
            <a:r>
              <a:t>- Academic Formulation: Discuss how data labeling quality dictates the upper bound of model performance.</a:t>
            </a:r>
          </a:p>
          <a:p>
            <a:r>
              <a:t>- Academic Formulation: Examine why data drift requires continuous model monitoring in production environments.</a:t>
            </a:r>
          </a:p>
          <a:p/>
          <a:p>
            <a:r>
              <a:t>TEACHING TIP:</a:t>
            </a:r>
          </a:p>
          <a:p>
            <a:r>
              <a:t>Draw a quick line of regression on a whiteboard, and then a scatter boundary to show classification.</a:t>
            </a:r>
          </a:p>
          <a:p/>
          <a:p>
            <a:r>
              <a:t>CLARIFYING EXAMPLES:</a:t>
            </a:r>
          </a:p>
          <a:p>
            <a:r>
              <a:t>- House prices (regression) vs email spam filters (classification)</a:t>
            </a:r>
          </a:p>
          <a:p>
            <a:r>
              <a:t>- Credit scoring assessment</a:t>
            </a:r>
          </a:p>
          <a:p>
            <a:r>
              <a:t>- Customer churn prediction</a:t>
            </a:r>
          </a:p>
          <a:p>
            <a:r>
              <a:t>- Sensor failures warnings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INSTRUCTOR NOTES ===</a:t>
            </a:r>
          </a:p>
          <a:p/>
          <a:p>
            <a:r>
              <a:t>TALKING POINTS:</a:t>
            </a:r>
          </a:p>
          <a:p>
            <a:r>
              <a:t>- Academic Formulation: Detail the linear regression equation: h_theta(x) = theta_0 + theta_1 * x.</a:t>
            </a:r>
          </a:p>
          <a:p>
            <a:r>
              <a:t>- Academic Formulation: Explain that theta_1 represents the slope and theta_0 the intercept.</a:t>
            </a:r>
          </a:p>
          <a:p>
            <a:r>
              <a:t>- Academic Formulation: Discuss how multiple linear regression scales to higher dimensions with matrix inputs.</a:t>
            </a:r>
          </a:p>
          <a:p>
            <a:r>
              <a:t>- Academic Formulation: Derive the Normal Equation matrix formulation for direct calculation.</a:t>
            </a:r>
          </a:p>
          <a:p>
            <a:r>
              <a:t>- Academic Formulation: Contrast gradient descent convergence speeds with matrix inversion complexities (O(n^3)).</a:t>
            </a:r>
          </a:p>
          <a:p>
            <a:r>
              <a:t>- Academic Formulation: Highlight scale normalization as a step to prevent feature weights dominance.</a:t>
            </a:r>
          </a:p>
          <a:p/>
          <a:p>
            <a:r>
              <a:t>TEACHING TIP:</a:t>
            </a:r>
          </a:p>
          <a:p>
            <a:r>
              <a:t>Use a simple spreadsheet model to show how predictions change when adjusting parameter sliders.</a:t>
            </a:r>
          </a:p>
          <a:p/>
          <a:p>
            <a:r>
              <a:t>CLARIFYING EXAMPLES:</a:t>
            </a:r>
          </a:p>
          <a:p>
            <a:r>
              <a:t>- Predicting crop yield based on rainfall amounts.</a:t>
            </a:r>
          </a:p>
          <a:p>
            <a:r>
              <a:t>- Stock price trend analyzer</a:t>
            </a:r>
          </a:p>
          <a:p>
            <a:r>
              <a:t>- Temperature cooling loops</a:t>
            </a:r>
          </a:p>
          <a:p>
            <a:r>
              <a:t>- House square footage pricing correlations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INSTRUCTOR NOTES ===</a:t>
            </a:r>
          </a:p>
          <a:p/>
          <a:p>
            <a:r>
              <a:t>TALKING POINTS:</a:t>
            </a:r>
          </a:p>
          <a:p>
            <a:r>
              <a:t>- Academic Formulation: Explain the definition of Loss. Why square the errors instead of taking absolute values?</a:t>
            </a:r>
          </a:p>
          <a:p>
            <a:r>
              <a:t>- Academic Formulation: Point out that squaring penalizes larger outliers more heavily.</a:t>
            </a:r>
          </a:p>
          <a:p>
            <a:r>
              <a:t>- Academic Formulation: Discuss convexity: a convex loss has no local minima, meaning gradient descent will find the global best fit.</a:t>
            </a:r>
          </a:p>
          <a:p>
            <a:r>
              <a:t>- Academic Formulation: Compare Mean Squared Error vs Mean Absolute Error behaviors in training.</a:t>
            </a:r>
          </a:p>
          <a:p>
            <a:r>
              <a:t>- Academic Formulation: Analyze how Huber loss bridges the gap between MAE and MSE for outlier data.</a:t>
            </a:r>
          </a:p>
          <a:p>
            <a:r>
              <a:t>- Academic Formulation: Define cost functions as the average loss across the entire training dataset.</a:t>
            </a:r>
          </a:p>
          <a:p/>
          <a:p>
            <a:r>
              <a:t>TEACHING TIP:</a:t>
            </a:r>
          </a:p>
          <a:p>
            <a:r>
              <a:t>Draw a parabola on the board to illustrate a single global minimum point.</a:t>
            </a:r>
          </a:p>
          <a:p/>
          <a:p>
            <a:r>
              <a:t>CLARIFYING EXAMPLES:</a:t>
            </a:r>
          </a:p>
          <a:p>
            <a:r>
              <a:t>- Measuring deviation of arrows from a target center bullseye.</a:t>
            </a:r>
          </a:p>
          <a:p>
            <a:r>
              <a:t>- Predicting delivery ETA values</a:t>
            </a:r>
          </a:p>
          <a:p>
            <a:r>
              <a:t>- Fuel efficiency estimators</a:t>
            </a:r>
          </a:p>
          <a:p>
            <a:r>
              <a:t>- Real estate asset appraisal deviations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INSTRUCTOR NOTES ===</a:t>
            </a:r>
          </a:p>
          <a:p/>
          <a:p>
            <a:r>
              <a:t>TALKING POINTS:</a:t>
            </a:r>
          </a:p>
          <a:p>
            <a:r>
              <a:t>- Academic Formulation: Explain the derivative term as the direction of steepest ascent. We subtract to descend.</a:t>
            </a:r>
          </a:p>
          <a:p>
            <a:r>
              <a:t>- Academic Formulation: Discuss alpha: if alpha is too small, convergence takes forever; if too large, it overshoots and diverges.</a:t>
            </a:r>
          </a:p>
          <a:p>
            <a:r>
              <a:t>- Academic Formulation: Compare batch gradient descent vs stochastic gradient descent (SGD) optimization paths.</a:t>
            </a:r>
          </a:p>
          <a:p>
            <a:r>
              <a:t>- Academic Formulation: Detail mini-batch gradient descent as the standard choice in deep learning frameworks.</a:t>
            </a:r>
          </a:p>
          <a:p>
            <a:r>
              <a:t>- Academic Formulation: Explain how vectorization accelerates gradient updates across modern CPU/GPU backends.</a:t>
            </a:r>
          </a:p>
          <a:p>
            <a:r>
              <a:t>- Academic Formulation: Discuss checking training logs to observe loss metrics decrease over epochs.</a:t>
            </a:r>
          </a:p>
          <a:p/>
          <a:p>
            <a:r>
              <a:t>TEACHING TIP:</a:t>
            </a:r>
          </a:p>
          <a:p>
            <a:r>
              <a:t>Use the analogy of walking down a foggy mountain in steps.</a:t>
            </a:r>
          </a:p>
          <a:p/>
          <a:p>
            <a:r>
              <a:t>CLARIFYING EXAMPLES:</a:t>
            </a:r>
          </a:p>
          <a:p>
            <a:r>
              <a:t>- Adjusting the temperature dial on a shower to find the optimal warmth.</a:t>
            </a:r>
          </a:p>
          <a:p>
            <a:r>
              <a:t>- Autonomous vehicle speed adjustments</a:t>
            </a:r>
          </a:p>
          <a:p>
            <a:r>
              <a:t>- Industrial controller loops tuning</a:t>
            </a:r>
          </a:p>
          <a:p>
            <a:r>
              <a:t>- Automated focus lenses alignment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INSTRUCTOR NOTES ===</a:t>
            </a:r>
          </a:p>
          <a:p/>
          <a:p>
            <a:r>
              <a:t>TALKING POINTS:</a:t>
            </a:r>
          </a:p>
          <a:p>
            <a:r>
              <a:t>- Academic Formulation: Explain bias: the simplifying assumptions made by a model (low capacity).</a:t>
            </a:r>
          </a:p>
          <a:p>
            <a:r>
              <a:t>- Academic Formulation: Explain variance: the model's sensitivity to small fluctuations in the training set.</a:t>
            </a:r>
          </a:p>
          <a:p>
            <a:r>
              <a:t>- Academic Formulation: Discuss how cross-validation helps identify where a model sits on the bias-variance curve.</a:t>
            </a:r>
          </a:p>
          <a:p>
            <a:r>
              <a:t>- Academic Formulation: Examine typical signals: training loss decreases but validation loss increases (overfitting).</a:t>
            </a:r>
          </a:p>
          <a:p>
            <a:r>
              <a:t>- Academic Formulation: List techniques to mitigate overfitting: early stopping, regularization, and feature selection.</a:t>
            </a:r>
          </a:p>
          <a:p>
            <a:r>
              <a:t>- Academic Formulation: Explain underfitting triggers: using a linear model on non-linear exponential datasets.</a:t>
            </a:r>
          </a:p>
          <a:p/>
          <a:p>
            <a:r>
              <a:t>TEACHING TIP:</a:t>
            </a:r>
          </a:p>
          <a:p>
            <a:r>
              <a:t>Draw a target board showing high bias/low variance vs low bias/high variance dart patterns.</a:t>
            </a:r>
          </a:p>
          <a:p/>
          <a:p>
            <a:r>
              <a:t>CLARIFYING EXAMPLES:</a:t>
            </a:r>
          </a:p>
          <a:p>
            <a:r>
              <a:t>- Underfitting is like memorizing only the first page; overfitting is like memorizing every punctuation mark.</a:t>
            </a:r>
          </a:p>
          <a:p>
            <a:r>
              <a:t>- Predicting stock trends on historic patterns</a:t>
            </a:r>
          </a:p>
          <a:p>
            <a:r>
              <a:t>- Generalizing animal classifications</a:t>
            </a:r>
          </a:p>
          <a:p>
            <a:r>
              <a:t>- Detecting fraudulent purchases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INSTRUCTOR NOTES ===</a:t>
            </a:r>
          </a:p>
          <a:p/>
          <a:p>
            <a:r>
              <a:t>TALKING POINTS:</a:t>
            </a:r>
          </a:p>
          <a:p>
            <a:r>
              <a:t>- Academic Formulation: Explain the penalty term: how it restricts parameter magnitude.</a:t>
            </a:r>
          </a:p>
          <a:p>
            <a:r>
              <a:t>- Academic Formulation: Ridge (L2) shrinks coefficients close to zero but keeps all features.</a:t>
            </a:r>
          </a:p>
          <a:p>
            <a:r>
              <a:t>- Academic Formulation: Lasso (L1) can force coefficients to exactly zero, performing feature selection.</a:t>
            </a:r>
          </a:p>
          <a:p>
            <a:r>
              <a:t>- Academic Formulation: Discuss Elastic Net as a robust choice when multiple features are highly correlated.</a:t>
            </a:r>
          </a:p>
          <a:p>
            <a:r>
              <a:t>- Academic Formulation: Explain lambda/alpha hyperparameter tuning using grid search methods.</a:t>
            </a:r>
          </a:p>
          <a:p>
            <a:r>
              <a:t>- Academic Formulation: Analyze how regularization changes the shape of the loss function surface.</a:t>
            </a:r>
          </a:p>
          <a:p/>
          <a:p>
            <a:r>
              <a:t>TEACHING TIP:</a:t>
            </a:r>
          </a:p>
          <a:p>
            <a:r>
              <a:t>Show how Lasso behaves like a diamond constraint, touching coordinate axes first.</a:t>
            </a:r>
          </a:p>
          <a:p/>
          <a:p>
            <a:r>
              <a:t>CLARIFYING EXAMPLES:</a:t>
            </a:r>
          </a:p>
          <a:p>
            <a:r>
              <a:t>- Filtering out background noise while preserving principal audio signals.</a:t>
            </a:r>
          </a:p>
          <a:p>
            <a:r>
              <a:t>- Sparsifying parameters in gene modeling</a:t>
            </a:r>
          </a:p>
          <a:p>
            <a:r>
              <a:t>- Limiting coefficients in marketing spent forecasts</a:t>
            </a:r>
          </a:p>
          <a:p>
            <a:r>
              <a:t>- Sensor readings feature selectors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INSTRUCTOR NOTES ===</a:t>
            </a:r>
          </a:p>
          <a:p/>
          <a:p>
            <a:r>
              <a:t>TALKING POINTS:</a:t>
            </a:r>
          </a:p>
          <a:p>
            <a:r>
              <a:t>- Academic Formulation: Explain why linear regression is unsuitable for classification: predictions go outside [0, 1].</a:t>
            </a:r>
          </a:p>
          <a:p>
            <a:r>
              <a:t>- Academic Formulation: Derive the Sigmoid function: g(z) = 1 / (1 + e^-z).</a:t>
            </a:r>
          </a:p>
          <a:p>
            <a:r>
              <a:t>- Academic Formulation: Explain log loss: why we use logarithmic penalties for incorrect probability predictions.</a:t>
            </a:r>
          </a:p>
          <a:p>
            <a:r>
              <a:t>- Academic Formulation: Detail multiclass classification using One-vs-Rest (OvR) and Softmax generalizations.</a:t>
            </a:r>
          </a:p>
          <a:p>
            <a:r>
              <a:t>- Academic Formulation: Discuss prediction decision thresholds (default 0.5) and how they relate to class business goals.</a:t>
            </a:r>
          </a:p>
          <a:p>
            <a:r>
              <a:t>- Academic Formulation: Address precision-recall tradeoffs when modifying classification thresholds.</a:t>
            </a:r>
          </a:p>
          <a:p/>
          <a:p>
            <a:r>
              <a:t>TEACHING TIP:</a:t>
            </a:r>
          </a:p>
          <a:p>
            <a:r>
              <a:t>Draw the Sigmoid curve and point out how it asymptotes at 0 and 1.</a:t>
            </a:r>
          </a:p>
          <a:p/>
          <a:p>
            <a:r>
              <a:t>CLARIFYING EXAMPLES:</a:t>
            </a:r>
          </a:p>
          <a:p>
            <a:r>
              <a:t>- Classifying an email as spam (1) or ham (0).</a:t>
            </a:r>
          </a:p>
          <a:p>
            <a:r>
              <a:t>- Predicting customer transaction defaults</a:t>
            </a:r>
          </a:p>
          <a:p>
            <a:r>
              <a:t>- Tumor classification systems</a:t>
            </a:r>
          </a:p>
          <a:p>
            <a:r>
              <a:t>- Spam filter routing rules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INSTRUCTOR NOTES ===</a:t>
            </a:r>
          </a:p>
          <a:p/>
          <a:p>
            <a:r>
              <a:t>TALKING POINTS:</a:t>
            </a:r>
          </a:p>
          <a:p>
            <a:r>
              <a:t>- Academic Formulation: Introduce the concept of margins: why a wider margin translates to better model stability.</a:t>
            </a:r>
          </a:p>
          <a:p>
            <a:r>
              <a:t>- Academic Formulation: Explain support vectors: they are the only points that determine the boundary. Moving others changes nothing.</a:t>
            </a:r>
          </a:p>
          <a:p>
            <a:r>
              <a:t>- Academic Formulation: Contrast SVMs with logistic regression which considers all training points.</a:t>
            </a:r>
          </a:p>
          <a:p>
            <a:r>
              <a:t>- Academic Formulation: Explain the C parameter in SVMs: controls the trade-off between margin width and classification errors.</a:t>
            </a:r>
          </a:p>
          <a:p>
            <a:r>
              <a:t>- Academic Formulation: Derive the primal vs dual representations of the SVM optimization problem.</a:t>
            </a:r>
          </a:p>
          <a:p>
            <a:r>
              <a:t>- Academic Formulation: Discuss why dual formulation is key to implementing the kernel trick.</a:t>
            </a:r>
          </a:p>
          <a:p/>
          <a:p>
            <a:r>
              <a:t>TEACHING TIP:</a:t>
            </a:r>
          </a:p>
          <a:p>
            <a:r>
              <a:t>Demonstrate trying to separate two groups of chairs in a room using a broomstick.</a:t>
            </a:r>
          </a:p>
          <a:p/>
          <a:p>
            <a:r>
              <a:t>CLARIFYING EXAMPLES:</a:t>
            </a:r>
          </a:p>
          <a:p>
            <a:r>
              <a:t>- Creating a border path between two distinct clusters of trees.</a:t>
            </a:r>
          </a:p>
          <a:p>
            <a:r>
              <a:t>- Handwritten character separation</a:t>
            </a:r>
          </a:p>
          <a:p>
            <a:r>
              <a:t>- Text categorization boundaries</a:t>
            </a:r>
          </a:p>
          <a:p>
            <a:r>
              <a:t>- Signature verification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INSTRUCTOR NOTES ===</a:t>
            </a:r>
          </a:p>
          <a:p/>
          <a:p>
            <a:r>
              <a:t>TALKING POINTS:</a:t>
            </a:r>
          </a:p>
          <a:p>
            <a:r>
              <a:t>- Academic Formulation: Detail how higher-order mapping allows non-linear separations.</a:t>
            </a:r>
          </a:p>
          <a:p>
            <a:r>
              <a:t>- Academic Formulation: Explain the kernel trick: we compute dot products in high dimensions without explicitly mapping points.</a:t>
            </a:r>
          </a:p>
          <a:p>
            <a:r>
              <a:t>- Academic Formulation: Discuss how the RBF kernel acts like placing landmines at support vectors.</a:t>
            </a:r>
          </a:p>
          <a:p>
            <a:r>
              <a:t>- Academic Formulation: Explain polynomial kernel configurations and degree parameter selections.</a:t>
            </a:r>
          </a:p>
          <a:p>
            <a:r>
              <a:t>- Academic Formulation: Contrast computational times of RBF kernels vs linear kernels on large datasets.</a:t>
            </a:r>
          </a:p>
          <a:p>
            <a:r>
              <a:t>- Academic Formulation: Discuss Mercer's condition for validating kernel functions matrix constructions.</a:t>
            </a:r>
          </a:p>
          <a:p/>
          <a:p>
            <a:r>
              <a:t>TEACHING TIP:</a:t>
            </a:r>
          </a:p>
          <a:p>
            <a:r>
              <a:t>Use hands to show folding a piece of paper to make two circular dots align.</a:t>
            </a:r>
          </a:p>
          <a:p/>
          <a:p>
            <a:r>
              <a:t>CLARIFYING EXAMPLES:</a:t>
            </a:r>
          </a:p>
          <a:p>
            <a:r>
              <a:t>- Applying kernel trick to separate concentric ring shapes.</a:t>
            </a:r>
          </a:p>
          <a:p>
            <a:r>
              <a:t>- Facial feature alignment matching</a:t>
            </a:r>
          </a:p>
          <a:p>
            <a:r>
              <a:t>- Speaker voice recognition boundaries</a:t>
            </a:r>
          </a:p>
          <a:p>
            <a:r>
              <a:t>- Bioinformatic sequence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 INSTRUCTOR NOTES ===</a:t>
            </a:r>
          </a:p>
          <a:p/>
          <a:p>
            <a:r>
              <a:t>TALKING POINTS:</a:t>
            </a:r>
          </a:p>
          <a:p>
            <a:r>
              <a:t>- Academic Formulation: Introduce entropy as a measure of disorder or uncertainty.</a:t>
            </a:r>
          </a:p>
          <a:p>
            <a:r>
              <a:t>- Academic Formulation: Walk through the information gain calculation step-by-step.</a:t>
            </a:r>
          </a:p>
          <a:p>
            <a:r>
              <a:t>- Academic Formulation: Explain the Gini impurity: why it is computationally cheaper than entropy (no log calculations).</a:t>
            </a:r>
          </a:p>
          <a:p>
            <a:r>
              <a:t>- Academic Formulation: Detail recursive binary splitting and tree leaf terminating rules.</a:t>
            </a:r>
          </a:p>
          <a:p>
            <a:r>
              <a:t>- Academic Formulation: Discuss tree pruning methods: cost complexity pruning to prevent tree overgrowth.</a:t>
            </a:r>
          </a:p>
          <a:p>
            <a:r>
              <a:t>- Academic Formulation: Discuss feature importances derived from node purity metrics.</a:t>
            </a:r>
          </a:p>
          <a:p/>
          <a:p>
            <a:r>
              <a:t>TEACHING TIP:</a:t>
            </a:r>
          </a:p>
          <a:p>
            <a:r>
              <a:t>Ask students to group items by color vs shape and explain which split was cleaner.</a:t>
            </a:r>
          </a:p>
          <a:p/>
          <a:p>
            <a:r>
              <a:t>CLARIFYING EXAMPLES:</a:t>
            </a:r>
          </a:p>
          <a:p>
            <a:r>
              <a:t>- Sorting a deck of cards by suit vs by color.</a:t>
            </a:r>
          </a:p>
          <a:p>
            <a:r>
              <a:t>- Determining high-value loan applicants</a:t>
            </a:r>
          </a:p>
          <a:p>
            <a:r>
              <a:t>- Diagnosing patient conditions</a:t>
            </a:r>
          </a:p>
          <a:p>
            <a:r>
              <a:t>- Categorizing customer web clickstreams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 INSTRUCTOR NOTES ===</a:t>
            </a:r>
          </a:p>
          <a:p/>
          <a:p>
            <a:r>
              <a:t>TALKING POINTS:</a:t>
            </a:r>
          </a:p>
          <a:p>
            <a:r>
              <a:t>- Academic Formulation: Explain how bootstrap sampling creates varied training sets.</a:t>
            </a:r>
          </a:p>
          <a:p>
            <a:r>
              <a:t>- Academic Formulation: Point out that tree diversity is what makes the ensemble robust.</a:t>
            </a:r>
          </a:p>
          <a:p>
            <a:r>
              <a:t>- Academic Formulation: Explain why Random Forests do not overfit as easily as individual decision trees.</a:t>
            </a:r>
          </a:p>
          <a:p>
            <a:r>
              <a:t>- Academic Formulation: Detail Out-of-Bag (OOB) error as an internal validation check.</a:t>
            </a:r>
          </a:p>
          <a:p>
            <a:r>
              <a:t>- Academic Formulation: Examine feature bagging: selecting random feature subsets at split nodes.</a:t>
            </a:r>
          </a:p>
          <a:p>
            <a:r>
              <a:t>- Academic Formulation: Compare tree bagging execution speed since individual trees are trained in parallel.</a:t>
            </a:r>
          </a:p>
          <a:p/>
          <a:p>
            <a:r>
              <a:t>TEACHING TIP:</a:t>
            </a:r>
          </a:p>
          <a:p>
            <a:r>
              <a:t>Ask a group of students to vote on a decision to show 'wisdom of the crowd'.</a:t>
            </a:r>
          </a:p>
          <a:p/>
          <a:p>
            <a:r>
              <a:t>CLARIFYING EXAMPLES:</a:t>
            </a:r>
          </a:p>
          <a:p>
            <a:r>
              <a:t>- Crowdsourcing a diagnosis from twenty different doctors.</a:t>
            </a:r>
          </a:p>
          <a:p>
            <a:r>
              <a:t>- Credit card transaction fraud systems</a:t>
            </a:r>
          </a:p>
          <a:p>
            <a:r>
              <a:t>- Predicting user content recommendations</a:t>
            </a:r>
          </a:p>
          <a:p>
            <a:r>
              <a:t>- Estimating patient survival rates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13 INSTRUCTOR NOTES ===</a:t>
            </a:r>
          </a:p>
          <a:p/>
          <a:p>
            <a:r>
              <a:t>TALKING POINTS:</a:t>
            </a:r>
          </a:p>
          <a:p>
            <a:r>
              <a:t>- Academic Formulation: Contrast bagging (parallel training) with boosting (sequential training).</a:t>
            </a:r>
          </a:p>
          <a:p>
            <a:r>
              <a:t>- Academic Formulation: Explain how GBDT fits trees to residual errors.</a:t>
            </a:r>
          </a:p>
          <a:p>
            <a:r>
              <a:t>- Academic Formulation: Discuss how XGBoost optimizes splits using second-order gradients.</a:t>
            </a:r>
          </a:p>
          <a:p>
            <a:r>
              <a:t>- Academic Formulation: Analyze boosting hyperparameters: learning rate (shrinkage) and number of estimators.</a:t>
            </a:r>
          </a:p>
          <a:p>
            <a:r>
              <a:t>- Academic Formulation: Address why boosting can overfit if the learning rate is too high or trees are too deep.</a:t>
            </a:r>
          </a:p>
          <a:p>
            <a:r>
              <a:t>- Academic Formulation: Highlight LightGBM as a leaf-wise growth alternative for large enterprise datasets.</a:t>
            </a:r>
          </a:p>
          <a:p/>
          <a:p>
            <a:r>
              <a:t>TEACHING TIP:</a:t>
            </a:r>
          </a:p>
          <a:p>
            <a:r>
              <a:t>Walk through a step-by-step learning loop where students focus on only the questions they got wrong.</a:t>
            </a:r>
          </a:p>
          <a:p/>
          <a:p>
            <a:r>
              <a:t>CLARIFYING EXAMPLES:</a:t>
            </a:r>
          </a:p>
          <a:p>
            <a:r>
              <a:t>- Improving a draft essay by iteratively correcting only the highlighted grammar mistakes.</a:t>
            </a:r>
          </a:p>
          <a:p>
            <a:r>
              <a:t>- Search engine query ranking loops</a:t>
            </a:r>
          </a:p>
          <a:p>
            <a:r>
              <a:t>- Predictive maintenance scheduling alerts</a:t>
            </a:r>
          </a:p>
          <a:p>
            <a:r>
              <a:t>- CTR prediction models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14 INSTRUCTOR NOTES ===</a:t>
            </a:r>
          </a:p>
          <a:p/>
          <a:p>
            <a:r>
              <a:t>TALKING POINTS:</a:t>
            </a:r>
          </a:p>
          <a:p>
            <a:r>
              <a:t>- Academic Formulation: Introduce the artificial neuron model: weights, bias, activation.</a:t>
            </a:r>
          </a:p>
          <a:p>
            <a:r>
              <a:t>- Academic Formulation: Explain ReLU: f(x) = max(0, x). Why it solved the vanishing gradient problem.</a:t>
            </a:r>
          </a:p>
          <a:p>
            <a:r>
              <a:t>- Academic Formulation: Discuss multi-layer capacity to model complex non-linear manifolds.</a:t>
            </a:r>
          </a:p>
          <a:p>
            <a:r>
              <a:t>- Academic Formulation: Detail the Universal Approximation Theorem and its limits in reality.</a:t>
            </a:r>
          </a:p>
          <a:p>
            <a:r>
              <a:t>- Academic Formulation: Explain forward propagation: calculating activations layer by layer using matrix multiplication.</a:t>
            </a:r>
          </a:p>
          <a:p>
            <a:r>
              <a:t>- Academic Formulation: Discuss hidden layer width vs depth design trade-offs in neural networks.</a:t>
            </a:r>
          </a:p>
          <a:p/>
          <a:p>
            <a:r>
              <a:t>TEACHING TIP:</a:t>
            </a:r>
          </a:p>
          <a:p>
            <a:r>
              <a:t>Draw a single neuron on the board, tracing inputs and outputs before linking multiple layers.</a:t>
            </a:r>
          </a:p>
          <a:p/>
          <a:p>
            <a:r>
              <a:t>CLARIFYING EXAMPLES:</a:t>
            </a:r>
          </a:p>
          <a:p>
            <a:r>
              <a:t>- Logic gate operations matching input combinations to outcomes.</a:t>
            </a:r>
          </a:p>
          <a:p>
            <a:r>
              <a:t>- Predicting housing prices from raw feature vectors</a:t>
            </a:r>
          </a:p>
          <a:p>
            <a:r>
              <a:t>- Classifying simple images using MLPs</a:t>
            </a:r>
          </a:p>
          <a:p>
            <a:r>
              <a:t>- Analyzing sensor data timelines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15 INSTRUCTOR NOTES ===</a:t>
            </a:r>
          </a:p>
          <a:p/>
          <a:p>
            <a:r>
              <a:t>TALKING POINTS:</a:t>
            </a:r>
          </a:p>
          <a:p>
            <a:r>
              <a:t>- Academic Formulation: Walk through a forward pass to calculate predictions, then backward pass for gradients.</a:t>
            </a:r>
          </a:p>
          <a:p>
            <a:r>
              <a:t>- Academic Formulation: Explain how the chain rule allows the output error to scale backward through hidden layers.</a:t>
            </a:r>
          </a:p>
          <a:p>
            <a:r>
              <a:t>- Academic Formulation: Discuss backpropagation computational complexity.</a:t>
            </a:r>
          </a:p>
          <a:p>
            <a:r>
              <a:t>- Academic Formulation: Explain the vanishing and exploding gradient problems in deep architectures.</a:t>
            </a:r>
          </a:p>
          <a:p>
            <a:r>
              <a:t>- Academic Formulation: Discuss activation choices (Leaky ReLU, GELU) that prevent dead neurons.</a:t>
            </a:r>
          </a:p>
          <a:p>
            <a:r>
              <a:t>- Academic Formulation: Introduce gradient clipping as a defense against exploding updates.</a:t>
            </a:r>
          </a:p>
          <a:p/>
          <a:p>
            <a:r>
              <a:t>TEACHING TIP:</a:t>
            </a:r>
          </a:p>
          <a:p>
            <a:r>
              <a:t>Write out a simple chain rule equation (dz/dx = dz/dy * dy/dx) on the board.</a:t>
            </a:r>
          </a:p>
          <a:p/>
          <a:p>
            <a:r>
              <a:t>CLARIFYING EXAMPLES:</a:t>
            </a:r>
          </a:p>
          <a:p>
            <a:r>
              <a:t>- Traces of feedback in a corporate management hierarchy correcting entry-level workflows.</a:t>
            </a:r>
          </a:p>
          <a:p>
            <a:r>
              <a:t>- Training simple networks to model XOR operations</a:t>
            </a:r>
          </a:p>
          <a:p>
            <a:r>
              <a:t>- Diagnosing learning stalls in deep feedforward nets</a:t>
            </a:r>
          </a:p>
          <a:p>
            <a:r>
              <a:t>- Optimizing custom loss functions parameters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16 INSTRUCTOR NOTES ===</a:t>
            </a:r>
          </a:p>
          <a:p/>
          <a:p>
            <a:r>
              <a:t>TALKING POINTS:</a:t>
            </a:r>
          </a:p>
          <a:p>
            <a:r>
              <a:t>- Academic Formulation: Explain why momentum prevents oscillations in ravines.</a:t>
            </a:r>
          </a:p>
          <a:p>
            <a:r>
              <a:t>- Academic Formulation: Detail RMSprop's adaptive learning rate tracking.</a:t>
            </a:r>
          </a:p>
          <a:p>
            <a:r>
              <a:t>- Academic Formulation: Show how Adam integrates both first-moment (momentum) and second-moment (adaptive step scale).</a:t>
            </a:r>
          </a:p>
          <a:p>
            <a:r>
              <a:t>- Academic Formulation: Explain exponential decay rates (beta_1 and beta_2) and their standard initial values.</a:t>
            </a:r>
          </a:p>
          <a:p>
            <a:r>
              <a:t>- Academic Formulation: Discuss learning rate schedules: warm-ups and cosine decays.</a:t>
            </a:r>
          </a:p>
          <a:p>
            <a:r>
              <a:t>- Academic Formulation: Compare Adam's runtime memory usage against basic SGD.</a:t>
            </a:r>
          </a:p>
          <a:p/>
          <a:p>
            <a:r>
              <a:t>TEACHING TIP:</a:t>
            </a:r>
          </a:p>
          <a:p>
            <a:r>
              <a:t>Draw a contour map showing a narrow valley to explain optimization oscillations.</a:t>
            </a:r>
          </a:p>
          <a:p/>
          <a:p>
            <a:r>
              <a:t>CLARIFYING EXAMPLES:</a:t>
            </a:r>
          </a:p>
          <a:p>
            <a:r>
              <a:t>- A ball rolling down a bumpy hill with gravity momentum.</a:t>
            </a:r>
          </a:p>
          <a:p>
            <a:r>
              <a:t>- Training large transformer models efficiently</a:t>
            </a:r>
          </a:p>
          <a:p>
            <a:r>
              <a:t>- Accelerating CNN training on image sets</a:t>
            </a:r>
          </a:p>
          <a:p>
            <a:r>
              <a:t>- Fine-tuning deep neural networks parameters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17 INSTRUCTOR NOTES ===</a:t>
            </a:r>
          </a:p>
          <a:p/>
          <a:p>
            <a:r>
              <a:t>TALKING POINTS:</a:t>
            </a:r>
          </a:p>
          <a:p>
            <a:r>
              <a:t>- Academic Formulation: Explain unsupervised learning: working without pre-labeled ground truth target values.</a:t>
            </a:r>
          </a:p>
          <a:p>
            <a:r>
              <a:t>- Academic Formulation: Detail the K-Means algorithm step-by-step.</a:t>
            </a:r>
          </a:p>
          <a:p>
            <a:r>
              <a:t>- Academic Formulation: Discuss the selection of K: the elbow method and silhouette analysis.</a:t>
            </a:r>
          </a:p>
          <a:p>
            <a:r>
              <a:t>- Academic Formulation: Explain the sensitivity of K-Means to initial centroid placement (solution: K-Means++).</a:t>
            </a:r>
          </a:p>
          <a:p>
            <a:r>
              <a:t>- Academic Formulation: Discuss cluster evaluation metrics when class labels are unavailable.</a:t>
            </a:r>
          </a:p>
          <a:p>
            <a:r>
              <a:t>- Academic Formulation: Address dimensionality scaling limits for distance-based clustering algorithms.</a:t>
            </a:r>
          </a:p>
          <a:p/>
          <a:p>
            <a:r>
              <a:t>TEACHING TIP:</a:t>
            </a:r>
          </a:p>
          <a:p>
            <a:r>
              <a:t>Show how cluster assignments change when centroids move to the center of their points.</a:t>
            </a:r>
          </a:p>
          <a:p/>
          <a:p>
            <a:r>
              <a:t>CLARIFYING EXAMPLES:</a:t>
            </a:r>
          </a:p>
          <a:p>
            <a:r>
              <a:t>- Segmenting retail customers into purchasing behavior groups.</a:t>
            </a:r>
          </a:p>
          <a:p>
            <a:r>
              <a:t>- Image quantization and color compression</a:t>
            </a:r>
          </a:p>
          <a:p>
            <a:r>
              <a:t>- Anomalous network traffic grouping</a:t>
            </a:r>
          </a:p>
          <a:p>
            <a:r>
              <a:t>- Document thematic clustering profiles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7315200" cy="1828800"/>
          </a:xfrm>
          <a:prstGeom prst="rect">
            <a:avLst/>
          </a:prstGeom>
          <a:noFill/>
        </p:spPr>
        <p:txBody>
          <a:bodyPr wrap="square">
            <a:spAutoFit/>
          </a:bodyPr>
          <a:lstStyle/>
          <a:p>
            <a:pPr algn="ctr">
              <a:defRPr sz="4000" b="1">
                <a:solidFill>
                  <a:srgbClr val="0EA5E9"/>
                </a:solidFill>
                <a:latin typeface="Georgia"/>
              </a:defRPr>
            </a:pPr>
            <a:r>
              <a:t>Linear Algebra I: Core Concepts - The Language of Data</a:t>
            </a:r>
          </a:p>
        </p:txBody>
      </p:sp>
      <p:sp>
        <p:nvSpPr>
          <p:cNvPr id="4" name="Rectangle 3"/>
          <p:cNvSpPr/>
          <p:nvPr/>
        </p:nvSpPr>
        <p:spPr>
          <a:xfrm>
            <a:off x="2286000" y="3657600"/>
            <a:ext cx="4572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931920"/>
            <a:ext cx="7315200" cy="1371600"/>
          </a:xfrm>
          <a:prstGeom prst="rect">
            <a:avLst/>
          </a:prstGeom>
          <a:noFill/>
        </p:spPr>
        <p:txBody>
          <a:bodyPr wrap="square">
            <a:spAutoFit/>
          </a:bodyPr>
          <a:lstStyle/>
          <a:p>
            <a:pPr algn="ctr">
              <a:defRPr sz="1300" b="1">
                <a:solidFill>
                  <a:srgbClr val="94A3B8"/>
                </a:solidFill>
                <a:latin typeface="Arial"/>
              </a:defRPr>
            </a:pPr>
            <a:r>
              <a:t>INTELLIGENT EDUCATION WORKFLOWS • KALYX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Linear Algebra II: Advanced Topics &amp; SVD - Deeper Insights</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**Norms and Distance Metrics:** Compute L1 (Manhattan), L2 (Euclidean), and Frobenius norms to measure vector and matrix magnitudes. Understand how these norms define different distance metrics crucial for algorithms like K-Nearest Neighbors.</a:t>
            </a:r>
          </a:p>
          <a:p>
            <a:pPr>
              <a:spcAft>
                <a:spcPts val="1400"/>
              </a:spcAft>
              <a:defRPr sz="1500">
                <a:solidFill>
                  <a:srgbClr val="E2E8F0"/>
                </a:solidFill>
                <a:latin typeface="Arial"/>
              </a:defRPr>
            </a:pPr>
            <a:r>
              <a:t>•  **Eigenvalues and Eigenvectors:** Interpret eigenvalues as scaling factors and eigenvectors as principal directions of transformation. Visualize their geometric meaning in linear transformations, representing the 'essence' of a matrix's action.</a:t>
            </a:r>
          </a:p>
          <a:p>
            <a:pPr>
              <a:spcAft>
                <a:spcPts val="1400"/>
              </a:spcAft>
              <a:defRPr sz="1500">
                <a:solidFill>
                  <a:srgbClr val="E2E8F0"/>
                </a:solidFill>
                <a:latin typeface="Arial"/>
              </a:defRPr>
            </a:pPr>
            <a:r>
              <a:t>•  **Singular Value Decomposition (SVD):** Comprehend SVD as a powerful matrix factorization technique (A = UΣVᵀ) that decomposes a matrix into three simpler ones. Explore its applications in dimensionality reduction (PCA), recommender systems, and image compression.</a:t>
            </a:r>
          </a:p>
          <a:p>
            <a:pPr>
              <a:spcAft>
                <a:spcPts val="1400"/>
              </a:spcAft>
              <a:defRPr sz="1500">
                <a:solidFill>
                  <a:srgbClr val="E2E8F0"/>
                </a:solidFill>
                <a:latin typeface="Arial"/>
              </a:defRPr>
            </a:pPr>
            <a:r>
              <a:t>•  **Orthogonality, Projections, and Change of Basis:** Define orthogonal vectors and matrices. Understand how projections map vectors onto subspaces and how change of basis transforms coordinates between different vector spaces, simplifying complex problems.</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visually rich slide. Show a vector with L1 and L2 norms illustrated. An animated GIF or static image depicting eigenvectors as invariant directions under a linear transformation. A diagram illustrating the SVD decomposition process with matrices U, Σ, Vᵀ. A 3D graph showing vector projection onto a plane.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Probability &amp; Statistics I: Foundations - Quantifying Uncertainty</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**Sample Spaces, Events, and Conditional Probability:** Define the set of all possible outcomes (sample space), specific outcomes (events), and the probability of an event given another event has occurred (conditional probability).</a:t>
            </a:r>
          </a:p>
          <a:p>
            <a:pPr>
              <a:spcAft>
                <a:spcPts val="1400"/>
              </a:spcAft>
              <a:defRPr sz="1500">
                <a:solidFill>
                  <a:srgbClr val="E2E8F0"/>
                </a:solidFill>
                <a:latin typeface="Arial"/>
              </a:defRPr>
            </a:pPr>
            <a:r>
              <a:t>•  **Applying Bayes' Theorem:** Understand and apply Bayes' theorem (P(A|B) = P(B|A)P(A) / P(B)) for updating beliefs based on new evidence, a cornerstone of Bayesian inference.</a:t>
            </a:r>
          </a:p>
          <a:p>
            <a:pPr>
              <a:spcAft>
                <a:spcPts val="1400"/>
              </a:spcAft>
              <a:defRPr sz="1500">
                <a:solidFill>
                  <a:srgbClr val="E2E8F0"/>
                </a:solidFill>
                <a:latin typeface="Arial"/>
              </a:defRPr>
            </a:pPr>
            <a:r>
              <a:t>•  **Discrete vs. Continuous Random Variables:** Differentiate between discrete random variables (countable outcomes, e.g., coin flips) and continuous random variables (uncountable outcomes over a range, e.g., height).</a:t>
            </a:r>
          </a:p>
          <a:p>
            <a:pPr>
              <a:spcAft>
                <a:spcPts val="1400"/>
              </a:spcAft>
              <a:defRPr sz="1500">
                <a:solidFill>
                  <a:srgbClr val="E2E8F0"/>
                </a:solidFill>
                <a:latin typeface="Arial"/>
              </a:defRPr>
            </a:pPr>
            <a:r>
              <a:t>•  **Key Probability Distributions:** Identify and understand the characteristics and use cases of fundamental distributions: Gaussian (Normal), Bernoulli (single trial), Multinomial (multiple outcomes), Poisson (event counts), and Beta (probabilities of probabilities).</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split slide. Left side: Venn diagrams illustrating sample spaces, events, and conditional probability. Right side: A clear formula for Bayes' Theorem. Below, a grid of small, distinct plots for each probability distribution (bell curve for Gaussian, bar chart for Bernoulli/Multinomial, etc.).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Probability &amp; Statistics II: Estimation &amp; Information Theory - Making Inferences</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**Expectation, Variance, Covariance, and Correlation:** Calculate and interpret these key statistical measures: expectation (average value), variance (spread), covariance (joint variability), and correlation (strength and direction of linear relationship).</a:t>
            </a:r>
          </a:p>
          <a:p>
            <a:pPr>
              <a:spcAft>
                <a:spcPts val="1400"/>
              </a:spcAft>
              <a:defRPr sz="1500">
                <a:solidFill>
                  <a:srgbClr val="E2E8F0"/>
                </a:solidFill>
                <a:latin typeface="Arial"/>
              </a:defRPr>
            </a:pPr>
            <a:r>
              <a:t>•  **Maximum Likelihood Estimation (MLE):** Understand MLE as a method for estimating model parameters by finding the parameters that maximize the likelihood of observing the given data.</a:t>
            </a:r>
          </a:p>
          <a:p>
            <a:pPr>
              <a:spcAft>
                <a:spcPts val="1400"/>
              </a:spcAft>
              <a:defRPr sz="1500">
                <a:solidFill>
                  <a:srgbClr val="E2E8F0"/>
                </a:solidFill>
                <a:latin typeface="Arial"/>
              </a:defRPr>
            </a:pPr>
            <a:r>
              <a:t>•  **Maximum A Posteriori (MAP) Estimation:** Explore MAP estimation, which extends MLE by incorporating prior knowledge about the parameters, leading to more robust estimates, especially with limited data.</a:t>
            </a:r>
          </a:p>
          <a:p>
            <a:pPr>
              <a:spcAft>
                <a:spcPts val="1400"/>
              </a:spcAft>
              <a:defRPr sz="1500">
                <a:solidFill>
                  <a:srgbClr val="E2E8F0"/>
                </a:solidFill>
                <a:latin typeface="Arial"/>
              </a:defRPr>
            </a:pPr>
            <a:r>
              <a:t>•  **Central Limit Theorem &amp; Law of Large Numbers:** Explain the Central Limit Theorem (sample means approximate a normal distribution) and the Law of Large Numbers (sample average converges to expected value), crucial for statistical inference.</a:t>
            </a:r>
          </a:p>
          <a:p>
            <a:pPr>
              <a:spcAft>
                <a:spcPts val="1400"/>
              </a:spcAft>
              <a:defRPr sz="1500">
                <a:solidFill>
                  <a:srgbClr val="E2E8F0"/>
                </a:solidFill>
                <a:latin typeface="Arial"/>
              </a:defRPr>
            </a:pPr>
            <a:r>
              <a:t>•  **Entropy, KL Divergence, and Cross-Entropy:** Define entropy as a measure of uncertainty. Understand KL divergence as a measure of how one probability distribution diverges from another. Apply cross-entropy as a common loss function in classification, measuring the difference between predicted and true distributions.</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two-column layout. Left column: Visuals for expectation (mean on a distribution), variance (spread of data points), and a scatter plot showing covariance/correlation. Right column: A conceptual diagram illustrating MLE (finding peak of likelihood function) and MAP (peak of posterior). A simple graph showing the Central Limit Theorem in action (histograms of sample means). A visual metaphor for entropy (disorder), KL divergence (distance between two curves), and cross-entropy.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Calculus &amp; Optimisation: Gradients &amp; Descent - Finding the Best Fit</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**Derivatives, Partial Derivatives, Gradients:** Compute derivatives for single-variable functions, partial derivatives for multi-variable functions, and gradients (vector of partial derivatives) to find the direction of steepest ascent.</a:t>
            </a:r>
          </a:p>
          <a:p>
            <a:pPr>
              <a:spcAft>
                <a:spcPts val="1400"/>
              </a:spcAft>
              <a:defRPr sz="1500">
                <a:solidFill>
                  <a:srgbClr val="E2E8F0"/>
                </a:solidFill>
                <a:latin typeface="Arial"/>
              </a:defRPr>
            </a:pPr>
            <a:r>
              <a:t>•  **Jacobians and Hessians:** Understand Jacobians (matrix of all first-order partial derivatives) and Hessians (matrix of all second-order partial derivatives) for multi-variable functions, crucial for advanced optimization.</a:t>
            </a:r>
          </a:p>
          <a:p>
            <a:pPr>
              <a:spcAft>
                <a:spcPts val="1400"/>
              </a:spcAft>
              <a:defRPr sz="1500">
                <a:solidFill>
                  <a:srgbClr val="E2E8F0"/>
                </a:solidFill>
                <a:latin typeface="Arial"/>
              </a:defRPr>
            </a:pPr>
            <a:r>
              <a:t>•  **The Chain Rule:** Apply the chain rule for differentiating composite functions, a fundamental concept for backpropagation in neural networks.</a:t>
            </a:r>
          </a:p>
          <a:p>
            <a:pPr>
              <a:spcAft>
                <a:spcPts val="1400"/>
              </a:spcAft>
              <a:defRPr sz="1500">
                <a:solidFill>
                  <a:srgbClr val="E2E8F0"/>
                </a:solidFill>
                <a:latin typeface="Arial"/>
              </a:defRPr>
            </a:pPr>
            <a:r>
              <a:t>•  **Gradient Descent Algorithms:** Understand and implement various gradient descent algorithms: batch (full dataset), stochastic (single sample), and mini-batch (small subset) for iteratively minimizing loss functions.</a:t>
            </a:r>
          </a:p>
          <a:p>
            <a:pPr>
              <a:spcAft>
                <a:spcPts val="1400"/>
              </a:spcAft>
              <a:defRPr sz="1500">
                <a:solidFill>
                  <a:srgbClr val="E2E8F0"/>
                </a:solidFill>
                <a:latin typeface="Arial"/>
              </a:defRPr>
            </a:pPr>
            <a:r>
              <a:t>•  **Convexity, Minima, and Saddle Points:** Identify convex functions (single global minimum), local vs. global minima, and saddle points, which pose challenges in optimization.</a:t>
            </a:r>
          </a:p>
          <a:p>
            <a:pPr>
              <a:spcAft>
                <a:spcPts val="1400"/>
              </a:spcAft>
              <a:defRPr sz="1500">
                <a:solidFill>
                  <a:srgbClr val="E2E8F0"/>
                </a:solidFill>
                <a:latin typeface="Arial"/>
              </a:defRPr>
            </a:pPr>
            <a:r>
              <a:t>•  **Lagrange Multipliers for Constrained Optimisation:** Apply Lagrange multipliers to solve optimization problems subject to equality constraints, finding optimal solutions under specific conditions.</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dynamic slide. A 2D plot showing a function and its derivative (tangent line). A 3D surface plot illustrating a gradient vector pointing uphill. A visual representation of the chain rule. An animation showing the path of batch, stochastic, and mini-batch gradient descent on a loss surface. A contour plot highlighting global minima, local minima, and saddle points. A diagram illustrating Lagrange multipliers on a constrained optimization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Python &amp; Scientific Stack: Tools for ML - The Developer's Toolkit</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**Advanced Python 3 Features:** Master powerful Python constructs like list comprehensions for concise list creation, generators for memory-efficient iteration, decorators for modifying function behavior, and Object-Oriented Programming (OOP) principles for structured code.</a:t>
            </a:r>
          </a:p>
          <a:p>
            <a:pPr>
              <a:spcAft>
                <a:spcPts val="1400"/>
              </a:spcAft>
              <a:defRPr sz="1500">
                <a:solidFill>
                  <a:srgbClr val="E2E8F0"/>
                </a:solidFill>
                <a:latin typeface="Arial"/>
              </a:defRPr>
            </a:pPr>
            <a:r>
              <a:t>•  **Efficient Array Operations with NumPy:** Perform high-performance numerical operations using NumPy arrays. Leverage broadcasting and vectorisation to write efficient, concise code that avoids explicit loops, significantly speeding up computations.</a:t>
            </a:r>
          </a:p>
          <a:p>
            <a:pPr>
              <a:spcAft>
                <a:spcPts val="1400"/>
              </a:spcAft>
              <a:defRPr sz="1500">
                <a:solidFill>
                  <a:srgbClr val="E2E8F0"/>
                </a:solidFill>
                <a:latin typeface="Arial"/>
              </a:defRPr>
            </a:pPr>
            <a:r>
              <a:t>•  **Informative Visualisations with Matplotlib &amp; Seaborn:** Create a wide range of static, animated, and interactive visualisations using Matplotlib for granular control and Seaborn for aesthetically pleasing statistical plots, aiding in data exploration and model interpretation.</a:t>
            </a:r>
          </a:p>
          <a:p>
            <a:pPr>
              <a:spcAft>
                <a:spcPts val="1400"/>
              </a:spcAft>
              <a:defRPr sz="1500">
                <a:solidFill>
                  <a:srgbClr val="E2E8F0"/>
                </a:solidFill>
                <a:latin typeface="Arial"/>
              </a:defRPr>
            </a:pPr>
            <a:r>
              <a:t>•  **Jupyter Notebooks for Reproducible Experimentation:** Utilise Jupyter Notebooks as an interactive computing environment for developing, documenting, and sharing code, visualisations, and narrative text, ensuring reproducibility of machine learning experiments.</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vibrant, code-focused slide. Left side: Small code snippets demonstrating list comprehensions, a simple decorator, and a class definition. Right side: A split view showing a NumPy array operation (e.g., matrix multiplication) and a beautiful Matplotlib/Seaborn plot (e.g., a scatter plot with regression line or a heatmap). A Jupyter Notebook interface screenshot in the background or as a central element.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Data Acquisition &amp; Cleaning - Preparing Raw Data for Insight</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**Loading Data from Diverse Formats:** Learn to efficiently load data from common file formats such as CSV, JSON, Parquet, and directly from SQL databases, understanding their respective advantages.</a:t>
            </a:r>
          </a:p>
          <a:p>
            <a:pPr>
              <a:spcAft>
                <a:spcPts val="1400"/>
              </a:spcAft>
              <a:defRPr sz="1500">
                <a:solidFill>
                  <a:srgbClr val="E2E8F0"/>
                </a:solidFill>
                <a:latin typeface="Arial"/>
              </a:defRPr>
            </a:pPr>
            <a:r>
              <a:t>•  **Basic Web Scraping Techniques:** Acquire data from websites using libraries like Beautiful Soup or Scrapy, understanding ethical considerations and common challenges.</a:t>
            </a:r>
          </a:p>
          <a:p>
            <a:pPr>
              <a:spcAft>
                <a:spcPts val="1400"/>
              </a:spcAft>
              <a:defRPr sz="1500">
                <a:solidFill>
                  <a:srgbClr val="E2E8F0"/>
                </a:solidFill>
                <a:latin typeface="Arial"/>
              </a:defRPr>
            </a:pPr>
            <a:r>
              <a:t>•  **Handling Missing Values:** Identify missing data patterns and apply various imputation strategies: mean, median, mode imputation, forward/backward fill, or more advanced methods like K-Nearest Neighbors imputation.</a:t>
            </a:r>
          </a:p>
          <a:p>
            <a:pPr>
              <a:spcAft>
                <a:spcPts val="1400"/>
              </a:spcAft>
              <a:defRPr sz="1500">
                <a:solidFill>
                  <a:srgbClr val="E2E8F0"/>
                </a:solidFill>
                <a:latin typeface="Arial"/>
              </a:defRPr>
            </a:pPr>
            <a:r>
              <a:t>•  **Detecting and Managing Outliers:** Employ statistical methods (e.g., Z-score, IQR) and visual techniques (e.g., box plots) to detect outliers, and decide on appropriate management strategies (removal, transformation, capping).</a:t>
            </a:r>
          </a:p>
          <a:p>
            <a:pPr>
              <a:spcAft>
                <a:spcPts val="1400"/>
              </a:spcAft>
              <a:defRPr sz="1500">
                <a:solidFill>
                  <a:srgbClr val="E2E8F0"/>
                </a:solidFill>
                <a:latin typeface="Arial"/>
              </a:defRPr>
            </a:pPr>
            <a:r>
              <a:t>•  **Removing Duplicate Entries and Correcting Data Types:** Implement methods to identify and remove redundant rows. Ensure data columns are assigned correct data types (e.g., numeric, categorical, datetime) for accurate analysis.</a:t>
            </a:r>
          </a:p>
          <a:p>
            <a:pPr>
              <a:spcAft>
                <a:spcPts val="1400"/>
              </a:spcAft>
              <a:defRPr sz="1500">
                <a:solidFill>
                  <a:srgbClr val="E2E8F0"/>
                </a:solidFill>
                <a:latin typeface="Arial"/>
              </a:defRPr>
            </a:pPr>
            <a:r>
              <a:t>•  **String Normalisation and Regular Expressions:** Apply string manipulation techniques for consistent text data (e.g., lowercasing, removing special characters). Utilise regular expressions (regex) for complex pattern matching and extraction in text columns.</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multi-panel slide. Top-left: Icons representing different data sources (CSV, JSON, SQL database, web browser). Top-right: A table snippet showing missing values, with different imputation methods visually indicated. Bottom-left: A box plot clearly showing outliers. Bottom-right: A before-and-after text snippet demonstrating string normalisation or regex application.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Exploratory Data Analysis (EDA) - Unveiling Data Patterns</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**Univariate Analysis:** Conduct in-depth analysis of individual variables using histograms (distribution shape), box plots (spread, outliers, quartiles), and Q-Q plots (normality assessment).</a:t>
            </a:r>
          </a:p>
          <a:p>
            <a:pPr>
              <a:spcAft>
                <a:spcPts val="1400"/>
              </a:spcAft>
              <a:defRPr sz="1500">
                <a:solidFill>
                  <a:srgbClr val="E2E8F0"/>
                </a:solidFill>
                <a:latin typeface="Arial"/>
              </a:defRPr>
            </a:pPr>
            <a:r>
              <a:t>•  **Bivariate Analysis:** Explore relationships between two variables using scatter plots (numerical-numerical), correlation matrices (linear relationships), and pair plots (all pairwise relationships).</a:t>
            </a:r>
          </a:p>
          <a:p>
            <a:pPr>
              <a:spcAft>
                <a:spcPts val="1400"/>
              </a:spcAft>
              <a:defRPr sz="1500">
                <a:solidFill>
                  <a:srgbClr val="E2E8F0"/>
                </a:solidFill>
                <a:latin typeface="Arial"/>
              </a:defRPr>
            </a:pPr>
            <a:r>
              <a:t>•  **Detecting Target Leakage:** Understand and identify target leakage, where information from the target variable inadvertently influences features, leading to overly optimistic model performance.</a:t>
            </a:r>
          </a:p>
          <a:p>
            <a:pPr>
              <a:spcAft>
                <a:spcPts val="1400"/>
              </a:spcAft>
              <a:defRPr sz="1500">
                <a:solidFill>
                  <a:srgbClr val="E2E8F0"/>
                </a:solidFill>
                <a:latin typeface="Arial"/>
              </a:defRPr>
            </a:pPr>
            <a:r>
              <a:t>•  **Train/Test Distribution Shifts:** Detect differences in data distributions between training and testing sets, which can severely impact model generalisation.</a:t>
            </a:r>
          </a:p>
          <a:p>
            <a:pPr>
              <a:spcAft>
                <a:spcPts val="1400"/>
              </a:spcAft>
              <a:defRPr sz="1500">
                <a:solidFill>
                  <a:srgbClr val="E2E8F0"/>
                </a:solidFill>
                <a:latin typeface="Arial"/>
              </a:defRPr>
            </a:pPr>
            <a:r>
              <a:t>•  **Automated EDA Tools:** Utilise powerful libraries like pandas-profiling to generate comprehensive, interactive EDA reports with minimal code, accelerating the initial data understanding phase.</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dashboard-style slide. Top-left: A histogram and a box plot for univariate analysis. Top-right: A scatter plot with a clear correlation matrix heatmap. Bottom-left: A subtle diagram illustrating target leakage (e.g., an arrow from target to feature before split). Bottom-right: A screenshot or visual representation of a pandas-profiling report summary.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Feature Engineering &amp; Selection - Crafting Predictive Power</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**Encoding Categorical Features:** Apply various encoding techniques: one-hot (binary columns for each category), ordinal (numerical ranking), target (mean of target for each category), and binary encoding (binary representation of categories).</a:t>
            </a:r>
          </a:p>
          <a:p>
            <a:pPr>
              <a:spcAft>
                <a:spcPts val="1400"/>
              </a:spcAft>
              <a:defRPr sz="1500">
                <a:solidFill>
                  <a:srgbClr val="E2E8F0"/>
                </a:solidFill>
                <a:latin typeface="Arial"/>
              </a:defRPr>
            </a:pPr>
            <a:r>
              <a:t>•  **Scaling Numerical Features:** Implement different scaling methods: StandardScaler (mean 0, variance 1), MinMaxScaler (0 to 1 range), and RobustScaler (handles outliers using IQR) to normalise feature ranges.</a:t>
            </a:r>
          </a:p>
          <a:p>
            <a:pPr>
              <a:spcAft>
                <a:spcPts val="1400"/>
              </a:spcAft>
              <a:defRPr sz="1500">
                <a:solidFill>
                  <a:srgbClr val="E2E8F0"/>
                </a:solidFill>
                <a:latin typeface="Arial"/>
              </a:defRPr>
            </a:pPr>
            <a:r>
              <a:t>•  **Creating Polynomial and Interaction Features:** Generate higher-order polynomial features (e.g., x^2, x^3) and interaction features (e.g., x*y) to capture non-linear relationships and feature dependencies.</a:t>
            </a:r>
          </a:p>
          <a:p>
            <a:pPr>
              <a:spcAft>
                <a:spcPts val="1400"/>
              </a:spcAft>
              <a:defRPr sz="1500">
                <a:solidFill>
                  <a:srgbClr val="E2E8F0"/>
                </a:solidFill>
                <a:latin typeface="Arial"/>
              </a:defRPr>
            </a:pPr>
            <a:r>
              <a:t>•  **Extracting and Encoding Date/Time Features:** Derive meaningful features from datetime columns, such as year, month, day of week, hour, and encode cyclical features (e.g., sine/cosine transformations for months).</a:t>
            </a:r>
          </a:p>
          <a:p>
            <a:pPr>
              <a:spcAft>
                <a:spcPts val="1400"/>
              </a:spcAft>
              <a:defRPr sz="1500">
                <a:solidFill>
                  <a:srgbClr val="E2E8F0"/>
                </a:solidFill>
                <a:latin typeface="Arial"/>
              </a:defRPr>
            </a:pPr>
            <a:r>
              <a:t>•  **Binning and Discretisation:** Transform continuous numerical features into discrete bins or categories, which can help handle outliers and improve model interpretability.</a:t>
            </a:r>
          </a:p>
          <a:p>
            <a:pPr>
              <a:spcAft>
                <a:spcPts val="1400"/>
              </a:spcAft>
              <a:defRPr sz="1500">
                <a:solidFill>
                  <a:srgbClr val="E2E8F0"/>
                </a:solidFill>
                <a:latin typeface="Arial"/>
              </a:defRPr>
            </a:pPr>
            <a:r>
              <a:t>•  **Feature Selection Techniques:** Apply methods to select the most relevant features: variance threshold (remove low-variance features), mutual information (measure dependency), and Recursive Feature Elimination (RFE) for model-based selection.</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grid-based slide. Top-left: A table showing categorical data before and after one-hot encoding. Top-right: A graph illustrating the effect of different scalers on a distribution. Middle-left: A scatter plot showing how polynomial features can fit non-linear data. Middle-right: Icons representing various date/time features (calendar, clock). Bottom-left: A histogram showing data before and after binning. Bottom-right: A funnel diagram illustrating feature selection, with less important features being filtered 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Linear Models for Regression &amp; Classification - The Foundation</a:t>
            </a:r>
          </a:p>
        </p:txBody>
      </p:sp>
      <p:sp>
        <p:nvSpPr>
          <p:cNvPr id="4" name="Rectangle 3"/>
          <p:cNvSpPr/>
          <p:nvPr/>
        </p:nvSpPr>
        <p:spPr>
          <a:xfrm>
            <a:off x="731520" y="1463040"/>
            <a:ext cx="5029200" cy="4389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663440" cy="4023360"/>
          </a:xfrm>
          <a:prstGeom prst="rect">
            <a:avLst/>
          </a:prstGeom>
          <a:noFill/>
        </p:spPr>
        <p:txBody>
          <a:bodyPr wrap="square">
            <a:spAutoFit/>
          </a:bodyPr>
          <a:lstStyle/>
          <a:p>
            <a:pPr>
              <a:spcAft>
                <a:spcPts val="800"/>
              </a:spcAft>
              <a:defRPr sz="1200">
                <a:solidFill>
                  <a:srgbClr val="22C55E"/>
                </a:solidFill>
                <a:latin typeface="Consolas"/>
              </a:defRPr>
            </a:pPr>
            <a:r>
              <a:t>**Simple &amp; Multiple Linear Regression:** Understand the principles of Ordinary Least Squares (OLS) for deriving the best-fit line/plane. Implement and interpret linear regression models for predicting continuous outcomes.</a:t>
            </a:r>
          </a:p>
          <a:p>
            <a:pPr>
              <a:spcAft>
                <a:spcPts val="800"/>
              </a:spcAft>
              <a:defRPr sz="1200">
                <a:solidFill>
                  <a:srgbClr val="22C55E"/>
                </a:solidFill>
                <a:latin typeface="Consolas"/>
              </a:defRPr>
            </a:pPr>
            <a:r>
              <a:t>**Regularisation Techniques (Ridge, Lasso, ElasticNet):** Apply Ridge (L2), Lasso (L1), and ElasticNet (L1+L2) regularisation to prevent overfitting, shrink coefficients, and perform feature selection in linear models.</a:t>
            </a:r>
          </a:p>
          <a:p>
            <a:pPr>
              <a:spcAft>
                <a:spcPts val="800"/>
              </a:spcAft>
              <a:defRPr sz="1200">
                <a:solidFill>
                  <a:srgbClr val="22C55E"/>
                </a:solidFill>
                <a:latin typeface="Consolas"/>
              </a:defRPr>
            </a:pPr>
            <a:r>
              <a:t>**Logistic Regression for Classification:** Explain and implement Logistic Regression, using the sigmoid function to model probabilities and log-loss (cross-entropy) as the objective function. Extend to multi-class classification (Softmax).</a:t>
            </a:r>
          </a:p>
          <a:p>
            <a:pPr>
              <a:spcAft>
                <a:spcPts val="800"/>
              </a:spcAft>
              <a:defRPr sz="1200">
                <a:solidFill>
                  <a:srgbClr val="22C55E"/>
                </a:solidFill>
                <a:latin typeface="Consolas"/>
              </a:defRPr>
            </a:pPr>
            <a:r>
              <a:t>**Model Assumptions &amp; Diagnostics:** Diagnose key assumptions of linear models (linearity, independence, homoscedasticity, normality of residuals). Perform residual diagnostics using plots to identify violations.</a:t>
            </a:r>
          </a:p>
          <a:p>
            <a:pPr>
              <a:spcAft>
                <a:spcPts val="800"/>
              </a:spcAft>
              <a:defRPr sz="1200">
                <a:solidFill>
                  <a:srgbClr val="22C55E"/>
                </a:solidFill>
                <a:latin typeface="Consolas"/>
              </a:defRPr>
            </a:pPr>
            <a:r>
              <a:t>**Multicollinearity and VIF:** Identify multicollinearity (high correlation between independent variables) and quantify its severity using the Variance Inflation Factor (VIF), understanding its impact on model stability and interpretability.</a:t>
            </a:r>
          </a:p>
        </p:txBody>
      </p:sp>
      <p:sp>
        <p:nvSpPr>
          <p:cNvPr id="6" name="Rectangle 5"/>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split slide. Left side: A scatter plot with a linear regression line. Below it, a graph showing how Ridge and Lasso shrink coefficients. Right side: A sigmoid curve illustrating Logistic Regression. Below it, a residual plot showing a good vs. bad fit. A small table or diagram explaining VIF values.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Tree-Based Ensemble Models I: Bagging &amp; Random Forests - Power of Aggregation</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**Decision Tree Principles:** Understand how Decision Trees make predictions by recursively partitioning data based on feature values. Differentiate between Gini impurity and entropy as splitting criteria. Learn about pruning techniques to prevent overfitting.</a:t>
            </a:r>
          </a:p>
          <a:p>
            <a:pPr>
              <a:spcAft>
                <a:spcPts val="1400"/>
              </a:spcAft>
              <a:defRPr sz="1500">
                <a:solidFill>
                  <a:srgbClr val="E2E8F0"/>
                </a:solidFill>
                <a:latin typeface="Arial"/>
              </a:defRPr>
            </a:pPr>
            <a:r>
              <a:t>•  **Bagging (Bootstrap Aggregating):** Explain the concept of Bagging, where multiple models are trained on different bootstrap samples (random samples with replacement) of the training data, and their predictions are averaged.</a:t>
            </a:r>
          </a:p>
          <a:p>
            <a:pPr>
              <a:spcAft>
                <a:spcPts val="1400"/>
              </a:spcAft>
              <a:defRPr sz="1500">
                <a:solidFill>
                  <a:srgbClr val="E2E8F0"/>
                </a:solidFill>
                <a:latin typeface="Arial"/>
              </a:defRPr>
            </a:pPr>
            <a:r>
              <a:t>•  **The Random Forest Algorithm:** Describe and apply the Random Forest algorithm, an ensemble method that builds multiple decision trees during training and outputs the mode of the classes (classification) or mean prediction (regression) of the individual trees. Emphasise random feature selection at each split.</a:t>
            </a:r>
          </a:p>
          <a:p>
            <a:pPr>
              <a:spcAft>
                <a:spcPts val="1400"/>
              </a:spcAft>
              <a:defRPr sz="1500">
                <a:solidFill>
                  <a:srgbClr val="E2E8F0"/>
                </a:solidFill>
                <a:latin typeface="Arial"/>
              </a:defRPr>
            </a:pPr>
            <a:r>
              <a:t>•  **Extremely Randomised Trees (ExtraTrees):** Understand the concept of ExtraTrees, which takes randomness a step further than Random Forests by also choosing split points randomly, often leading to faster training and reduced variance.</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visually engaging slide. Top-left: A simple decision tree diagram with Gini/entropy labels. Top-right: An illustration of Bagging, showing multiple datasets sampled from the original, each training a model. Bottom-left: A forest of diverse trees representing a Random Forest, with arrows converging to a single prediction. Bottom-right: A subtle visual cue differentiating ExtraTrees (e.g., more 'random' split lines).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Tree-Based Ensemble Models II: Gradient Boosting - Sequential Improvement</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**Core Principles of Gradient Boosted Trees:** Understand that Gradient Boosting builds an ensemble of weak learners (typically decision trees) sequentially, where each new tree corrects the errors of the previous ones by fitting to the residuals (gradients) of the loss function.</a:t>
            </a:r>
          </a:p>
          <a:p>
            <a:pPr>
              <a:spcAft>
                <a:spcPts val="1400"/>
              </a:spcAft>
              <a:defRPr sz="1500">
                <a:solidFill>
                  <a:srgbClr val="E2E8F0"/>
                </a:solidFill>
                <a:latin typeface="Arial"/>
              </a:defRPr>
            </a:pPr>
            <a:r>
              <a:t>•  **Implementing and Tuning XGBoost:** Explore XGBoost (eXtreme Gradient Boosting), a highly optimised and popular implementation known for its speed and performance. Learn about its key parameters for tuning (e.g., learning rate, max_depth, subsample).</a:t>
            </a:r>
          </a:p>
          <a:p>
            <a:pPr>
              <a:spcAft>
                <a:spcPts val="1400"/>
              </a:spcAft>
              <a:defRPr sz="1500">
                <a:solidFill>
                  <a:srgbClr val="E2E8F0"/>
                </a:solidFill>
                <a:latin typeface="Arial"/>
              </a:defRPr>
            </a:pPr>
            <a:r>
              <a:t>•  **Implementing and Tuning LightGBM:** Understand LightGBM, another high-performance gradient boosting framework that uses a leaf-wise tree growth algorithm, often leading to faster training and lower memory usage compared to XGBoost.</a:t>
            </a:r>
          </a:p>
          <a:p>
            <a:pPr>
              <a:spcAft>
                <a:spcPts val="1400"/>
              </a:spcAft>
              <a:defRPr sz="1500">
                <a:solidFill>
                  <a:srgbClr val="E2E8F0"/>
                </a:solidFill>
                <a:latin typeface="Arial"/>
              </a:defRPr>
            </a:pPr>
            <a:r>
              <a:t>•  **Implementing and Tuning CatBoost:** Discover CatBoost, a gradient boosting library that excels at handling categorical features automatically and uses ordered boosting to combat prediction shift, resulting in robust models.</a:t>
            </a:r>
          </a:p>
          <a:p>
            <a:pPr>
              <a:spcAft>
                <a:spcPts val="1400"/>
              </a:spcAft>
              <a:defRPr sz="1500">
                <a:solidFill>
                  <a:srgbClr val="E2E8F0"/>
                </a:solidFill>
                <a:latin typeface="Arial"/>
              </a:defRPr>
            </a:pPr>
            <a:r>
              <a:t>•  **Interpreting Feature Importance:** Interpret feature importance scores generated by these models. Understand permutation importance (measuring performance drop when a feature is shuffled) and Shapley values (fairly attributing prediction to each feature) for model explainability.</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dynamic slide. Top: An animated sequence showing trees being added sequentially, each correcting the errors of the previous one (e.g., residuals shrinking). Middle: Logos or distinct visual styles for XGBoost, LightGBM, and CatBoost, perhaps with small icons representing their unique features (e.g., 'X' for extreme, 'light bulb' for LightGBM, 'cat' for CatBoost). Bottom: A bar chart showing feature importance, with a small diagram explaining permutation importance or Shapley values.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Support Vector Machines &amp; Instance-Based Learning - Diverse Approaches</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**Maximum Margin Classifier &amp; Dual Problem (SVMs):** Explain how Support Vector Machines (SVMs) find the optimal hyperplane that maximally separates classes. Understand the dual problem formulation for efficient computation.</a:t>
            </a:r>
          </a:p>
          <a:p>
            <a:pPr>
              <a:spcAft>
                <a:spcPts val="1400"/>
              </a:spcAft>
              <a:defRPr sz="1500">
                <a:solidFill>
                  <a:srgbClr val="E2E8F0"/>
                </a:solidFill>
                <a:latin typeface="Arial"/>
              </a:defRPr>
            </a:pPr>
            <a:r>
              <a:t>•  **The Kernel Trick:** Apply the kernel trick with various kernels (RBF, polynomial, sigmoid) to transform non-linearly separable data into higher dimensions where a linear separation is possible.</a:t>
            </a:r>
          </a:p>
          <a:p>
            <a:pPr>
              <a:spcAft>
                <a:spcPts val="1400"/>
              </a:spcAft>
              <a:defRPr sz="1500">
                <a:solidFill>
                  <a:srgbClr val="E2E8F0"/>
                </a:solidFill>
                <a:latin typeface="Arial"/>
              </a:defRPr>
            </a:pPr>
            <a:r>
              <a:t>•  **Support Vector Regression (SVR):** Use SVR for regression tasks, extending the SVM concept to find a function that deviates from the target by no more than a specified epsilon.</a:t>
            </a:r>
          </a:p>
          <a:p>
            <a:pPr>
              <a:spcAft>
                <a:spcPts val="1400"/>
              </a:spcAft>
              <a:defRPr sz="1500">
                <a:solidFill>
                  <a:srgbClr val="E2E8F0"/>
                </a:solidFill>
                <a:latin typeface="Arial"/>
              </a:defRPr>
            </a:pPr>
            <a:r>
              <a:t>•  **Computational Complexity &amp; Use Cases of SVMs:** Understand the computational complexity of SVMs, especially with large datasets, and identify scenarios where SVMs are particularly effective.</a:t>
            </a:r>
          </a:p>
          <a:p>
            <a:pPr>
              <a:spcAft>
                <a:spcPts val="1400"/>
              </a:spcAft>
              <a:defRPr sz="1500">
                <a:solidFill>
                  <a:srgbClr val="E2E8F0"/>
                </a:solidFill>
                <a:latin typeface="Arial"/>
              </a:defRPr>
            </a:pPr>
            <a:r>
              <a:t>•  **Naive Bayes Variants:** Implement Naive Bayes classifiers (Gaussian for continuous, Multinomial for counts, Bernoulli for binary features) based on Bayes' theorem and the assumption of feature independence.</a:t>
            </a:r>
          </a:p>
          <a:p>
            <a:pPr>
              <a:spcAft>
                <a:spcPts val="1400"/>
              </a:spcAft>
              <a:defRPr sz="1500">
                <a:solidFill>
                  <a:srgbClr val="E2E8F0"/>
                </a:solidFill>
                <a:latin typeface="Arial"/>
              </a:defRPr>
            </a:pPr>
            <a:r>
              <a:t>•  **K-Nearest Neighbours (KNN):** Apply K-Nearest Neighbours for classification and regression, using various distance metrics (Euclidean, Manhattan) and efficient data structures like KD-trees for faster neighbour search.</a:t>
            </a:r>
          </a:p>
          <a:p>
            <a:pPr>
              <a:spcAft>
                <a:spcPts val="1400"/>
              </a:spcAft>
              <a:defRPr sz="1500">
                <a:solidFill>
                  <a:srgbClr val="E2E8F0"/>
                </a:solidFill>
                <a:latin typeface="Arial"/>
              </a:defRPr>
            </a:pPr>
            <a:r>
              <a:t>•  **Gaussian Processes for Regression:** Grasp the intuition behind Gaussian Processes as a non-parametric, probabilistic model for regression, providing not just predictions but also uncertainty estimates.</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multi-section slide. Top-left: A 2D plot showing a hyperplane separating two classes with support vectors highlighted and the margin clearly visible. Top-right: A visual representation of the kernel trick transforming data into a higher dimension. Middle-left: Icons representing Gaussian, Multinomial, and Bernoulli Naive Bayes. Middle-right: A scatter plot with a new data point and its K-nearest neighbors circled. Bottom: A wavy line representing a Gaussian Process regression with a shaded area for uncertainty.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Clustering Algorithms - Discovering Hidden Structures</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**K-Means Clustering:** Implement K-Means clustering using Lloyd's algorithm. Understand the K-Means++ initialization strategy for better centroid placement and the elbow method for determining the optimal number of clusters (K).</a:t>
            </a:r>
          </a:p>
          <a:p>
            <a:pPr>
              <a:spcAft>
                <a:spcPts val="1400"/>
              </a:spcAft>
              <a:defRPr sz="1500">
                <a:solidFill>
                  <a:srgbClr val="E2E8F0"/>
                </a:solidFill>
                <a:latin typeface="Arial"/>
              </a:defRPr>
            </a:pPr>
            <a:r>
              <a:t>•  **Hierarchical Clustering:** Perform Hierarchical Clustering (agglomerative approach) by building a tree of clusters. Understand Ward linkage for merging clusters and interpret dendrograms to visualise the clustering process.</a:t>
            </a:r>
          </a:p>
          <a:p>
            <a:pPr>
              <a:spcAft>
                <a:spcPts val="1400"/>
              </a:spcAft>
              <a:defRPr sz="1500">
                <a:solidFill>
                  <a:srgbClr val="E2E8F0"/>
                </a:solidFill>
                <a:latin typeface="Arial"/>
              </a:defRPr>
            </a:pPr>
            <a:r>
              <a:t>•  **Density-Based Clustering (DBSCAN &amp; HDBSCAN):** Apply DBSCAN (Density-Based Spatial Clustering of Applications with Noise) to find arbitrarily shaped clusters and identify outliers. Explore HDBSCAN for more robust density-based clustering without needing to specify epsilon.</a:t>
            </a:r>
          </a:p>
          <a:p>
            <a:pPr>
              <a:spcAft>
                <a:spcPts val="1400"/>
              </a:spcAft>
              <a:defRPr sz="1500">
                <a:solidFill>
                  <a:srgbClr val="E2E8F0"/>
                </a:solidFill>
                <a:latin typeface="Arial"/>
              </a:defRPr>
            </a:pPr>
            <a:r>
              <a:t>•  **Gaussian Mixture Models (GMM) &amp; EM Algorithm:** Understand Gaussian Mixture Models as a probabilistic approach to clustering, assuming data points are generated from a mixture of several Gaussian distributions. Grasp the Expectation-Maximisation (EM) algorithm used to fit GMMs.</a:t>
            </a:r>
          </a:p>
          <a:p>
            <a:pPr>
              <a:spcAft>
                <a:spcPts val="1400"/>
              </a:spcAft>
              <a:defRPr sz="1500">
                <a:solidFill>
                  <a:srgbClr val="E2E8F0"/>
                </a:solidFill>
                <a:latin typeface="Arial"/>
              </a:defRPr>
            </a:pPr>
            <a:r>
              <a:t>•  **Evaluating Cluster Performance:** Evaluate the quality of clustering results using intrinsic metrics like Silhouette score (cohesion and separation), Davies-Bouldin index (intra-cluster vs. inter-cluster distance), and extrinsic metrics like Adjusted Rand Index (ARI) when ground truth labels are available.</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vibrant, data-point-focused slide. Top-left: An animation or sequence of images showing K-Means iterations, with centroids moving and points re-assigned. Top-right: A dendrogram illustrating hierarchical clustering. Middle-left: A scatter plot showing DBSCAN identifying irregular clusters and noise points. Middle-right: Overlapping Gaussian distributions representing a GMM. Bottom: A bar chart comparing Silhouette scores for different K values, and a small diagram explaining ARI.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Dimensionality Reduction &amp; Anomaly Detection - Simplifying &amp; Spotting the Unusual</a:t>
            </a:r>
          </a:p>
        </p:txBody>
      </p:sp>
      <p:sp>
        <p:nvSpPr>
          <p:cNvPr id="4" name="Rectangle 3"/>
          <p:cNvSpPr/>
          <p:nvPr/>
        </p:nvSpPr>
        <p:spPr>
          <a:xfrm>
            <a:off x="731520" y="1463040"/>
            <a:ext cx="5029200" cy="4389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663440" cy="4023360"/>
          </a:xfrm>
          <a:prstGeom prst="rect">
            <a:avLst/>
          </a:prstGeom>
          <a:noFill/>
        </p:spPr>
        <p:txBody>
          <a:bodyPr wrap="square">
            <a:spAutoFit/>
          </a:bodyPr>
          <a:lstStyle/>
          <a:p>
            <a:pPr>
              <a:spcAft>
                <a:spcPts val="800"/>
              </a:spcAft>
              <a:defRPr sz="1200">
                <a:solidFill>
                  <a:srgbClr val="22C55E"/>
                </a:solidFill>
                <a:latin typeface="Consolas"/>
              </a:defRPr>
            </a:pPr>
            <a:r>
              <a:t>**Principal Component Analysis (PCA):** Apply PCA for linear dimensionality reduction, transforming data into a new set of orthogonal components. Interpret variance explained by each component and use scree plots to determine the optimal number of components.</a:t>
            </a:r>
          </a:p>
          <a:p>
            <a:pPr>
              <a:spcAft>
                <a:spcPts val="800"/>
              </a:spcAft>
              <a:defRPr sz="1200">
                <a:solidFill>
                  <a:srgbClr val="22C55E"/>
                </a:solidFill>
                <a:latin typeface="Consolas"/>
              </a:defRPr>
            </a:pPr>
            <a:r>
              <a:t>**Kernel PCA:** Understand Kernel PCA, which extends PCA to non-linear dimensionality reduction by first mapping data to a higher-dimensional space using a kernel function.</a:t>
            </a:r>
          </a:p>
          <a:p>
            <a:pPr>
              <a:spcAft>
                <a:spcPts val="800"/>
              </a:spcAft>
              <a:defRPr sz="1200">
                <a:solidFill>
                  <a:srgbClr val="22C55E"/>
                </a:solidFill>
                <a:latin typeface="Consolas"/>
              </a:defRPr>
            </a:pPr>
            <a:r>
              <a:t>**t-SNE and UMAP:** Use t-SNE (t-Distributed Stochastic Neighbor Embedding) and UMAP (Uniform Manifold Approximation and Projection) for non-linear dimensionality reduction, particularly effective for visualising high-dimensional data in 2D or 3D.</a:t>
            </a:r>
          </a:p>
          <a:p>
            <a:pPr>
              <a:spcAft>
                <a:spcPts val="800"/>
              </a:spcAft>
              <a:defRPr sz="1200">
                <a:solidFill>
                  <a:srgbClr val="22C55E"/>
                </a:solidFill>
                <a:latin typeface="Consolas"/>
              </a:defRPr>
            </a:pPr>
            <a:r>
              <a:t>**Autoencoders for Learned Representations:** Explain Autoencoders as neural networks trained to reconstruct their input, learning a compressed, lower-dimensional representation (bottleneck layer) in the process.</a:t>
            </a:r>
          </a:p>
          <a:p>
            <a:pPr>
              <a:spcAft>
                <a:spcPts val="800"/>
              </a:spcAft>
              <a:defRPr sz="1200">
                <a:solidFill>
                  <a:srgbClr val="22C55E"/>
                </a:solidFill>
                <a:latin typeface="Consolas"/>
              </a:defRPr>
            </a:pPr>
            <a:r>
              <a:t>**Linear Discriminant Analysis (LDA):** Apply LDA for supervised dimensionality reduction, finding linear combinations of features that best separate classes, maximising inter-class variance while minimising intra-class variance.</a:t>
            </a:r>
          </a:p>
          <a:p>
            <a:pPr>
              <a:spcAft>
                <a:spcPts val="800"/>
              </a:spcAft>
              <a:defRPr sz="1200">
                <a:solidFill>
                  <a:srgbClr val="22C55E"/>
                </a:solidFill>
                <a:latin typeface="Consolas"/>
              </a:defRPr>
            </a:pPr>
            <a:r>
              <a:t>**Anomaly Detection Techniques:** Detect anomalies (outliers) using statistical methods (Z-score, IQR), Isolation Forest (isolating anomalies in fewer splits), One-Class SVM (finding a boundary around normal data), and Local Outlier Factor (LOF) (density-based anomaly detection).</a:t>
            </a:r>
          </a:p>
        </p:txBody>
      </p:sp>
      <p:sp>
        <p:nvSpPr>
          <p:cNvPr id="6" name="Rectangle 5"/>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multi-panel slide. Top-left: A 3D scatter plot projected onto a 2D plane, illustrating PCA. Top-right: A complex, non-linear dataset being reduced to a clear 2D separation using t-SNE or UMAP. Middle-left: A simple autoencoder architecture diagram (input, encoder, bottleneck, decoder, output). Middle-right: A scatter plot showing LDA separating two classes. Bottom: A scatter plot with distinct 'normal' clusters and isolated 'anomaly' points highlighted, with icons representing Isolation Forest or One-Class SVM.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Evaluation Metrics &amp; Cross-Validation - Trusting Your Model</a:t>
            </a:r>
          </a:p>
        </p:txBody>
      </p:sp>
      <p:sp>
        <p:nvSpPr>
          <p:cNvPr id="4" name="Rectangle 3"/>
          <p:cNvSpPr/>
          <p:nvPr/>
        </p:nvSpPr>
        <p:spPr>
          <a:xfrm>
            <a:off x="731520" y="1463040"/>
            <a:ext cx="5029200" cy="4389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663440" cy="4023360"/>
          </a:xfrm>
          <a:prstGeom prst="rect">
            <a:avLst/>
          </a:prstGeom>
          <a:noFill/>
        </p:spPr>
        <p:txBody>
          <a:bodyPr wrap="square">
            <a:spAutoFit/>
          </a:bodyPr>
          <a:lstStyle/>
          <a:p>
            <a:pPr>
              <a:spcAft>
                <a:spcPts val="800"/>
              </a:spcAft>
              <a:defRPr sz="1200">
                <a:solidFill>
                  <a:srgbClr val="22C55E"/>
                </a:solidFill>
                <a:latin typeface="Consolas"/>
              </a:defRPr>
            </a:pPr>
            <a:r>
              <a:t>**Classification Metrics:** Select and calculate appropriate metrics for classification: accuracy, precision, recall, F1-score, ROC-AUC (Receiver Operating Characteristic - Area Under the Curve), and PR-AUC (Precision-Recall Area Under the Curve).</a:t>
            </a:r>
          </a:p>
          <a:p>
            <a:pPr>
              <a:spcAft>
                <a:spcPts val="800"/>
              </a:spcAft>
              <a:defRPr sz="1200">
                <a:solidFill>
                  <a:srgbClr val="22C55E"/>
                </a:solidFill>
                <a:latin typeface="Consolas"/>
              </a:defRPr>
            </a:pPr>
            <a:r>
              <a:t>**Regression Metrics:** Select and calculate appropriate metrics for regression: MAE (Mean Absolute Error), MSE (Mean Squared Error), RMSE (Root Mean Squared Error), MAPE (Mean Absolute Percentage Error), and R-squared (coefficient of determination).</a:t>
            </a:r>
          </a:p>
          <a:p>
            <a:pPr>
              <a:spcAft>
                <a:spcPts val="800"/>
              </a:spcAft>
              <a:defRPr sz="1200">
                <a:solidFill>
                  <a:srgbClr val="22C55E"/>
                </a:solidFill>
                <a:latin typeface="Consolas"/>
              </a:defRPr>
            </a:pPr>
            <a:r>
              <a:t>**Multi-Label and Multi-Class Extensions:** Understand how to extend these metrics to multi-label (multiple targets per sample) and multi-class (more than two classes) classification problems.</a:t>
            </a:r>
          </a:p>
          <a:p>
            <a:pPr>
              <a:spcAft>
                <a:spcPts val="800"/>
              </a:spcAft>
              <a:defRPr sz="1200">
                <a:solidFill>
                  <a:srgbClr val="22C55E"/>
                </a:solidFill>
                <a:latin typeface="Consolas"/>
              </a:defRPr>
            </a:pPr>
            <a:r>
              <a:t>**Model Calibration:** Evaluate model calibration, assessing how well predicted probabilities align with actual probabilities, crucial for decision-making systems.</a:t>
            </a:r>
          </a:p>
          <a:p>
            <a:pPr>
              <a:spcAft>
                <a:spcPts val="800"/>
              </a:spcAft>
              <a:defRPr sz="1200">
                <a:solidFill>
                  <a:srgbClr val="22C55E"/>
                </a:solidFill>
                <a:latin typeface="Consolas"/>
              </a:defRPr>
            </a:pPr>
            <a:r>
              <a:t>**Cross-Validation Strategies:** Apply various cross-validation strategies to robustly estimate model performance: K-Fold (standard partitioning), Stratified K-Fold (maintaining class proportions), Time-series split (preserving temporal order), and Group K-Fold (preventing data leakage from groups).</a:t>
            </a:r>
          </a:p>
        </p:txBody>
      </p:sp>
      <p:sp>
        <p:nvSpPr>
          <p:cNvPr id="6" name="Rectangle 5"/>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dashboard-style slide. Top-left: A confusion matrix with precision, recall, F1 highlighted. Top-right: An ROC curve and a PR curve. Middle-left: A scatter plot showing actual vs. predicted values for regression, with error bars or shaded regions. Middle-right: A reliability diagram for model calibration. Bottom: A visual representation of K-Fold, Stratified K-Fold, and Time-series cross-validation splits on a dataset timeline or grid.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680960" cy="914400"/>
          </a:xfrm>
          <a:prstGeom prst="rect">
            <a:avLst/>
          </a:prstGeom>
          <a:noFill/>
        </p:spPr>
        <p:txBody>
          <a:bodyPr wrap="square">
            <a:spAutoFit/>
          </a:bodyPr>
          <a:lstStyle/>
          <a:p>
            <a:pPr>
              <a:defRPr sz="2800" b="1">
                <a:solidFill>
                  <a:srgbClr val="0EA5E9"/>
                </a:solidFill>
                <a:latin typeface="Georgia"/>
              </a:defRPr>
            </a:pPr>
            <a:r>
              <a:t>Bias-Variance Tradeoff &amp; Hyperparameter Optimisation - Balancing Performance</a:t>
            </a:r>
          </a:p>
        </p:txBody>
      </p:sp>
      <p:sp>
        <p:nvSpPr>
          <p:cNvPr id="4" name="TextBox 3"/>
          <p:cNvSpPr txBox="1"/>
          <p:nvPr/>
        </p:nvSpPr>
        <p:spPr>
          <a:xfrm>
            <a:off x="731520" y="1463040"/>
            <a:ext cx="5029200" cy="4389120"/>
          </a:xfrm>
          <a:prstGeom prst="rect">
            <a:avLst/>
          </a:prstGeom>
          <a:noFill/>
        </p:spPr>
        <p:txBody>
          <a:bodyPr wrap="square">
            <a:spAutoFit/>
          </a:bodyPr>
          <a:lstStyle/>
          <a:p>
            <a:pPr>
              <a:spcAft>
                <a:spcPts val="1400"/>
              </a:spcAft>
              <a:defRPr sz="1500">
                <a:solidFill>
                  <a:srgbClr val="E2E8F0"/>
                </a:solidFill>
                <a:latin typeface="Arial"/>
              </a:defRPr>
            </a:pPr>
            <a:r>
              <a:t>•  **Bias-Variance Tradeoff:** Explain the fundamental bias-variance tradeoff, where high bias leads to underfitting (oversimplified model) and high variance leads to overfitting (overly complex model), and how they contribute to generalisation error.</a:t>
            </a:r>
          </a:p>
          <a:p>
            <a:pPr>
              <a:spcAft>
                <a:spcPts val="1400"/>
              </a:spcAft>
              <a:defRPr sz="1500">
                <a:solidFill>
                  <a:srgbClr val="E2E8F0"/>
                </a:solidFill>
                <a:latin typeface="Arial"/>
              </a:defRPr>
            </a:pPr>
            <a:r>
              <a:t>•  **Diagnosing Underfitting vs. Overfitting:** Diagnose underfitting (high training and validation error) and overfitting (low training error, high validation error) using learning curves (performance vs. training size) and validation curves (performance vs. hyperparameter value).</a:t>
            </a:r>
          </a:p>
          <a:p>
            <a:pPr>
              <a:spcAft>
                <a:spcPts val="1400"/>
              </a:spcAft>
              <a:defRPr sz="1500">
                <a:solidFill>
                  <a:srgbClr val="E2E8F0"/>
                </a:solidFill>
                <a:latin typeface="Arial"/>
              </a:defRPr>
            </a:pPr>
            <a:r>
              <a:t>•  **The Double Descent Phenomenon:** Understand the double descent phenomenon, where increasing model complexity beyond the interpolation threshold can lead to a second phase of performance improvement, challenging traditional bias-variance intuition.</a:t>
            </a:r>
          </a:p>
          <a:p>
            <a:pPr>
              <a:spcAft>
                <a:spcPts val="1400"/>
              </a:spcAft>
              <a:defRPr sz="1500">
                <a:solidFill>
                  <a:srgbClr val="E2E8F0"/>
                </a:solidFill>
                <a:latin typeface="Arial"/>
              </a:defRPr>
            </a:pPr>
            <a:r>
              <a:t>•  **Grid Search for Hyperparameter Optimisation:** Implement Grid Search, an exhaustive method that evaluates all possible combinations of specified hyperparameters to find the optimal set.</a:t>
            </a:r>
          </a:p>
          <a:p>
            <a:pPr>
              <a:spcAft>
                <a:spcPts val="1400"/>
              </a:spcAft>
              <a:defRPr sz="1500">
                <a:solidFill>
                  <a:srgbClr val="E2E8F0"/>
                </a:solidFill>
                <a:latin typeface="Arial"/>
              </a:defRPr>
            </a:pPr>
            <a:r>
              <a:t>•  **Random Search for Hyperparameter Optimisation:** Explore Random Search, which samples hyperparameters from a defined distribution, often more efficient than Grid Search for high-dimensional hyperparameter spaces.</a:t>
            </a:r>
          </a:p>
          <a:p>
            <a:pPr>
              <a:spcAft>
                <a:spcPts val="1400"/>
              </a:spcAft>
              <a:defRPr sz="1500">
                <a:solidFill>
                  <a:srgbClr val="E2E8F0"/>
                </a:solidFill>
                <a:latin typeface="Arial"/>
              </a:defRPr>
            </a:pPr>
            <a:r>
              <a:t>•  **Bayesian Optimisation, Successive Halving, and Hyperband:** Investigate advanced optimisation techniques: Bayesian optimisation (builds a probabilistic model of the objective function), successive halving (allocates resources adaptively), and Hyperband (combines successive halving with random search) for more efficient hyperparameter tuning.</a:t>
            </a:r>
          </a:p>
        </p:txBody>
      </p:sp>
      <p:sp>
        <p:nvSpPr>
          <p:cNvPr id="5" name="Rectangle 4"/>
          <p:cNvSpPr/>
          <p:nvPr/>
        </p:nvSpPr>
        <p:spPr>
          <a:xfrm>
            <a:off x="6217920" y="1463040"/>
            <a:ext cx="2468880" cy="4389120"/>
          </a:xfrm>
          <a:prstGeom prst="rect">
            <a:avLst/>
          </a:prstGeom>
          <a:solidFill>
            <a:srgbClr val="141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463040"/>
            <a:ext cx="24688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2103120" cy="4023360"/>
          </a:xfrm>
          <a:prstGeom prst="rect">
            <a:avLst/>
          </a:prstGeom>
          <a:noFill/>
        </p:spPr>
        <p:txBody>
          <a:bodyPr wrap="square">
            <a:spAutoFit/>
          </a:bodyPr>
          <a:lstStyle/>
          <a:p>
            <a:pPr>
              <a:spcAft>
                <a:spcPts val="1000"/>
              </a:spcAft>
              <a:defRPr sz="1100" b="1">
                <a:solidFill>
                  <a:srgbClr val="0EA5E9"/>
                </a:solidFill>
                <a:latin typeface="Arial"/>
              </a:defRPr>
            </a:pPr>
            <a:r>
              <a:t>VISUAL COMPANION</a:t>
            </a:r>
          </a:p>
          <a:p>
            <a:pPr>
              <a:spcAft>
                <a:spcPts val="800"/>
              </a:spcAft>
              <a:defRPr sz="1100" i="1">
                <a:solidFill>
                  <a:srgbClr val="94A3B8"/>
                </a:solidFill>
                <a:latin typeface="Arial"/>
              </a:defRPr>
            </a:pPr>
            <a:r>
              <a:t>A conceptual and illustrative slide. Top-left: A target diagram showing high bias/low variance (bullseye missed consistently), low bias/high variance (scattered around bullseye), and ideal (tightly clustered around bullseye). Top-right: Learning curves showing typical underfitting and overfitting patterns. Middle: A graph illustrating the double descent curve. Bottom-left: A grid of points representing Grid Search. Bottom-right: Randomly scattered points representing Random Search. Small icons or diagrams for Bayesian optimisation (Gaussian process), successive halving, and Hyperband.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