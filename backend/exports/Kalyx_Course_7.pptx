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 INSTRUCTOR NOTES ===</a:t>
            </a:r>
          </a:p>
          <a:p/>
          <a:p>
            <a:r>
              <a:t>TALKING POINTS:</a:t>
            </a:r>
          </a:p>
          <a:p>
            <a:r>
              <a:t>- Academic Formulation: Introduce the five core pillars of Computer Science foundations: DBMS, SQL, Computer Networks, OOPS, and OS.</a:t>
            </a:r>
          </a:p>
          <a:p>
            <a:r>
              <a:t>- Academic Formulation: Explain that these pillars form the engineering bedrock for any high-performance, enterprise-grade software system.</a:t>
            </a:r>
          </a:p>
          <a:p>
            <a:r>
              <a:t>- Academic Formulation: Discuss how databases manage persistent state, while networks handle distributed communications.</a:t>
            </a:r>
          </a:p>
          <a:p>
            <a:r>
              <a:t>- Academic Formulation: Explain the role of Object-Oriented design in managing code complexity and scaling application architectures.</a:t>
            </a:r>
          </a:p>
          <a:p>
            <a:r>
              <a:t>- Academic Formulation: Highlight how Operating Systems manage physical hardware resources and orchestrate CPU scheduling.</a:t>
            </a:r>
          </a:p>
          <a:p>
            <a:r>
              <a:t>- Academic Formulation: Outline the lesson roadmap, setting expectations for academic rigor, exams, and practical code labs.</a:t>
            </a:r>
          </a:p>
          <a:p/>
          <a:p>
            <a:r>
              <a:t>TEACHING TIP:</a:t>
            </a:r>
          </a:p>
          <a:p>
            <a:r>
              <a:t>Do an icebreaker by asking students which layer of the stack they find most interesting (data, network, design, or hardware) and why.</a:t>
            </a:r>
          </a:p>
          <a:p/>
          <a:p>
            <a:r>
              <a:t>CLARIFYING EXAMPLES:</a:t>
            </a:r>
          </a:p>
          <a:p>
            <a:r>
              <a:t>- A banking app: uses DBMS for balances, Networks for transactions, OOP for business logic, and OS for scheduling processes.</a:t>
            </a:r>
          </a:p>
          <a:p>
            <a:r>
              <a:t>- Web browser: network sockets fetch HTML, OS manages process rendering tabs, OOP organizes UI code.</a:t>
            </a:r>
          </a:p>
          <a:p>
            <a:r>
              <a:t>- Smart home devices: micro-OS controls sensors, light network sends packets, databases log historical metrics.</a:t>
            </a:r>
          </a:p>
          <a:p>
            <a:r>
              <a:t>- E-commerce server: SQL retrieves inventory, TCP socket sends payload, OOP patterns organize checkout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2 INSTRUCTOR NOTES ===</a:t>
            </a:r>
          </a:p>
          <a:p/>
          <a:p>
            <a:r>
              <a:t>TALKING POINTS:</a:t>
            </a:r>
          </a:p>
          <a:p>
            <a:r>
              <a:t>- Academic Formulation: Explain the Relational Model introduced by Edgar F. Codd, representing data as tables or mathematical relations.</a:t>
            </a:r>
          </a:p>
          <a:p>
            <a:r>
              <a:t>- Academic Formulation: Clarify the distinction between physical storage and logical relations in DB design.</a:t>
            </a:r>
          </a:p>
          <a:p>
            <a:r>
              <a:t>- Academic Formulation: Detail the three types of database constraints: entity integrity, referential integrity, and domain constraints.</a:t>
            </a:r>
          </a:p>
          <a:p>
            <a:r>
              <a:t>- Academic Formulation: Explain how functional dependencies (FDs) act as semantic assertions about the attributes in a database.</a:t>
            </a:r>
          </a:p>
          <a:p>
            <a:r>
              <a:t>- Academic Formulation: Walk through the steps of Normalization: from eliminating repeating groups (1NF) to removing partial dependencies (2NF).</a:t>
            </a:r>
          </a:p>
          <a:p>
            <a:r>
              <a:t>- Academic Formulation: Analyze how Third Normal Form (3NF) and Boyce-Codd Normal Form (BCNF) remove transitive functional dependencies.</a:t>
            </a:r>
          </a:p>
          <a:p/>
          <a:p>
            <a:r>
              <a:t>TEACHING TIP:</a:t>
            </a:r>
          </a:p>
          <a:p>
            <a:r>
              <a:t>Draw an unnormalized database table on the board and ask students to point out update, insert, and delete anomalies.</a:t>
            </a:r>
          </a:p>
          <a:p/>
          <a:p>
            <a:r>
              <a:t>CLARIFYING EXAMPLES:</a:t>
            </a:r>
          </a:p>
          <a:p>
            <a:r>
              <a:t>- An Order table with repeated product rows violating 1NF.</a:t>
            </a:r>
          </a:p>
          <a:p>
            <a:r>
              <a:t>- A student course table where student name depends only on student ID, violating 2NF.</a:t>
            </a:r>
          </a:p>
          <a:p>
            <a:r>
              <a:t>- A employee department manager table where manager name transitively depends on employee ID through department code, violating 3NF.</a:t>
            </a:r>
          </a:p>
          <a:p>
            <a:r>
              <a:t>- A library system table with overlapping candidate keys violating BCNF.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3 INSTRUCTOR NOTES ===</a:t>
            </a:r>
          </a:p>
          <a:p/>
          <a:p>
            <a:r>
              <a:t>TALKING POINTS:</a:t>
            </a:r>
          </a:p>
          <a:p>
            <a:r>
              <a:t>- Academic Formulation: Introduce the concept of a Transaction: a logical unit of database work containing one or more SQL commands.</a:t>
            </a:r>
          </a:p>
          <a:p>
            <a:r>
              <a:t>- Academic Formulation: Detail Atomicity: the 'all or nothing' guarantee managed by the database rollback segments.</a:t>
            </a:r>
          </a:p>
          <a:p>
            <a:r>
              <a:t>- Academic Formulation: Discuss Consistency: how transactions must preserve all active database schemas, check constraints, and triggers.</a:t>
            </a:r>
          </a:p>
          <a:p>
            <a:r>
              <a:t>- Academic Formulation: Explain Isolation: preventing concurrent transactions from viewing intermediate, uncommitted states.</a:t>
            </a:r>
          </a:p>
          <a:p>
            <a:r>
              <a:t>- Academic Formulation: Explain Durability: guaranteeing that once a transaction commits, its updates survive subsequent system crashes.</a:t>
            </a:r>
          </a:p>
          <a:p>
            <a:r>
              <a:t>- Academic Formulation: Trace the life cycle of a transaction: active, partially committed, committed, failed, and aborted states.</a:t>
            </a:r>
          </a:p>
          <a:p/>
          <a:p>
            <a:r>
              <a:t>TEACHING TIP:</a:t>
            </a:r>
          </a:p>
          <a:p>
            <a:r>
              <a:t>Draw a database crash scenario mid-transaction and ask students how the recovery manager knows what to undo.</a:t>
            </a:r>
          </a:p>
          <a:p/>
          <a:p>
            <a:r>
              <a:t>CLARIFYING EXAMPLES:</a:t>
            </a:r>
          </a:p>
          <a:p>
            <a:r>
              <a:t>- A bank transfer: debiting account A must be atomic with crediting account B.</a:t>
            </a:r>
          </a:p>
          <a:p>
            <a:r>
              <a:t>- Consistency check: preventing account balances from dropping below zero due to database constraints.</a:t>
            </a:r>
          </a:p>
          <a:p>
            <a:r>
              <a:t>- Isolation isolation: two concurrent checkouts reading the same item stock quantity.</a:t>
            </a:r>
          </a:p>
          <a:p>
            <a:r>
              <a:t>- Durability check: changes saved to the write-ahead transaction log before power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4 INSTRUCTOR NOTES ===</a:t>
            </a:r>
          </a:p>
          <a:p/>
          <a:p>
            <a:r>
              <a:t>TALKING POINTS:</a:t>
            </a:r>
          </a:p>
          <a:p>
            <a:r>
              <a:t>- Academic Formulation: Explain the concurrency anomalies that occur when isolation levels are relaxed.</a:t>
            </a:r>
          </a:p>
          <a:p>
            <a:r>
              <a:t>- Academic Formulation: Define a Dirty Read (reading uncommitted data), a Non-Repeatable Read, and a Phantom Read.</a:t>
            </a:r>
          </a:p>
          <a:p>
            <a:r>
              <a:t>- Academic Formulation: Introduce lock-based concurrency control: Shared locks (S) for reads, Exclusive locks (X) for writes.</a:t>
            </a:r>
          </a:p>
          <a:p>
            <a:r>
              <a:t>- Academic Formulation: Explain the Two-Phase Locking (2PL) protocol: growing phase (acquiring locks) and shrinking phase (releasing locks).</a:t>
            </a:r>
          </a:p>
          <a:p>
            <a:r>
              <a:t>- Academic Formulation: Explain why Strict 2PL is required: releasing exclusive locks only at transaction commit prevents cascading aborts.</a:t>
            </a:r>
          </a:p>
          <a:p>
            <a:r>
              <a:t>- Academic Formulation: Introduce Write-Ahead Logging (WAL) and the ACID recovery manager's log-and-replay algorithm.</a:t>
            </a:r>
          </a:p>
          <a:p/>
          <a:p>
            <a:r>
              <a:t>TEACHING TIP:</a:t>
            </a:r>
          </a:p>
          <a:p>
            <a:r>
              <a:t>Simulate a deadlock on the whiteboard by locking two student tables in opposing orders.</a:t>
            </a:r>
          </a:p>
          <a:p/>
          <a:p>
            <a:r>
              <a:t>CLARIFYING EXAMPLES:</a:t>
            </a:r>
          </a:p>
          <a:p>
            <a:r>
              <a:t>- Dirty Read: reading a balance change that gets rolled back.</a:t>
            </a:r>
          </a:p>
          <a:p>
            <a:r>
              <a:t>- Non-Repeatable Read: reading a row, another transaction updates it, reading again yields a different value.</a:t>
            </a:r>
          </a:p>
          <a:p>
            <a:r>
              <a:t>- Phantom Read: querying a count of active orders, a new order is inserted, querying again yields a different count.</a:t>
            </a:r>
          </a:p>
          <a:p>
            <a:r>
              <a:t>- WAL: a database server crashes, and the system uses the WAL log on startup to REDO committed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5 INSTRUCTOR NOTES ===</a:t>
            </a:r>
          </a:p>
          <a:p/>
          <a:p>
            <a:r>
              <a:t>TALKING POINTS:</a:t>
            </a:r>
          </a:p>
          <a:p>
            <a:r>
              <a:t>- Academic Formulation: Differentiate between Data Definition Language (DDL) and Data Manipulation Language (DML).</a:t>
            </a:r>
          </a:p>
          <a:p>
            <a:r>
              <a:t>- Academic Formulation: Explain that DDL statements modify the database catalog (structure) and cause implicit commits in most engines.</a:t>
            </a:r>
          </a:p>
          <a:p>
            <a:r>
              <a:t>- Academic Formulation: Explain that DML statements modify actual table records and run within active transaction scopes.</a:t>
            </a:r>
          </a:p>
          <a:p>
            <a:r>
              <a:t>- Academic Formulation: Discuss Data Control Language (DCL) commands like GRANT and REVOKE for role-based access security.</a:t>
            </a:r>
          </a:p>
          <a:p>
            <a:r>
              <a:t>- Academic Formulation: Explain Transaction Control Language (TCL) commands: COMMIT, ROLLBACK, and SAVEPOINT.</a:t>
            </a:r>
          </a:p>
          <a:p>
            <a:r>
              <a:t>- Academic Formulation: Highlight how constraints (NOT NULL, UNIQUE, CHECK, FOREIGN KEY) are defined in DDL schemas.</a:t>
            </a:r>
          </a:p>
          <a:p/>
          <a:p>
            <a:r>
              <a:t>TEACHING TIP:</a:t>
            </a:r>
          </a:p>
          <a:p>
            <a:r>
              <a:t>Ask students why DDL changes cannot usually be rolled back in standard RDBMS engines.</a:t>
            </a:r>
          </a:p>
          <a:p/>
          <a:p>
            <a:r>
              <a:t>CLARIFYING EXAMPLES:</a:t>
            </a:r>
          </a:p>
          <a:p>
            <a:r>
              <a:t>- DDL query: CREATE TABLE students (id INT PRIMARY KEY, email VARCHAR(100) UNIQUE).</a:t>
            </a:r>
          </a:p>
          <a:p>
            <a:r>
              <a:t>- DML query: INSERT INTO students (id, email) VALUES (1, 'test@kalyx.com').</a:t>
            </a:r>
          </a:p>
          <a:p>
            <a:r>
              <a:t>- DCL query: GRANT SELECT ON students TO professor_role.</a:t>
            </a:r>
          </a:p>
          <a:p>
            <a:r>
              <a:t>- TCL query: SAVEPOINT checkpoint1; ROLLBACK TO checkpoint1;.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6 INSTRUCTOR NOTES ===</a:t>
            </a:r>
          </a:p>
          <a:p/>
          <a:p>
            <a:r>
              <a:t>TALKING POINTS:</a:t>
            </a:r>
          </a:p>
          <a:p>
            <a:r>
              <a:t>- Academic Formulation: Explain the mechanics of relational Joins: joining tables based on common key columns.</a:t>
            </a:r>
          </a:p>
          <a:p>
            <a:r>
              <a:t>- Academic Formulation: Compare INNER JOIN (only matching keys) vs LEFT, RIGHT, and FULL OUTER JOINS.</a:t>
            </a:r>
          </a:p>
          <a:p>
            <a:r>
              <a:t>- Academic Formulation: Discuss the CROSS JOIN (Cartesian product) and when its use is appropriate.</a:t>
            </a:r>
          </a:p>
          <a:p>
            <a:r>
              <a:t>- Academic Formulation: Analyze Subqueries: compare nested subqueries vs correlated subqueries that reference parent table columns.</a:t>
            </a:r>
          </a:p>
          <a:p>
            <a:r>
              <a:t>- Academic Formulation: Discuss SQL Set operators: UNION, UNION ALL, INTERSECT, and EXCEPT.</a:t>
            </a:r>
          </a:p>
          <a:p>
            <a:r>
              <a:t>- Academic Formulation: Detail the syntax and performance benefits of Common Table Expressions (CTEs) for recursive queries.</a:t>
            </a:r>
          </a:p>
          <a:p/>
          <a:p>
            <a:r>
              <a:t>TEACHING TIP:</a:t>
            </a:r>
          </a:p>
          <a:p>
            <a:r>
              <a:t>Use two overlapping circles to draw SQL Joins on the whiteboard, tracing output matching rows.</a:t>
            </a:r>
          </a:p>
          <a:p/>
          <a:p>
            <a:r>
              <a:t>CLARIFYING EXAMPLES:</a:t>
            </a:r>
          </a:p>
          <a:p>
            <a:r>
              <a:t>- INNER JOIN: matching orders to customer profiles.</a:t>
            </a:r>
          </a:p>
          <a:p>
            <a:r>
              <a:t>- LEFT JOIN: finding all customers, including those with zero orders.</a:t>
            </a:r>
          </a:p>
          <a:p>
            <a:r>
              <a:t>- Correlated Subquery: finding employees who earn more than the average salary of their specific department.</a:t>
            </a:r>
          </a:p>
          <a:p>
            <a:r>
              <a:t>- CTE: WITH regional_sales AS (SELECT region, SUM(amount) FROM sales GROUP BY region) SELECT * FROM regional_sales.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7 INSTRUCTOR NOTES ===</a:t>
            </a:r>
          </a:p>
          <a:p/>
          <a:p>
            <a:r>
              <a:t>TALKING POINTS:</a:t>
            </a:r>
          </a:p>
          <a:p>
            <a:r>
              <a:t>- Academic Formulation: Define a Database Index: a secondary data structure designed to speed up search operations.</a:t>
            </a:r>
          </a:p>
          <a:p>
            <a:r>
              <a:t>- Academic Formulation: Walk through B+ Tree index structures: self-balancing search trees storing key-pointer pairs.</a:t>
            </a:r>
          </a:p>
          <a:p>
            <a:r>
              <a:t>- Academic Formulation: Explain why B+ Trees are preferred over B-Trees: leaf nodes are linked, allowing fast sequential scans.</a:t>
            </a:r>
          </a:p>
          <a:p>
            <a:r>
              <a:t>- Academic Formulation: Differentiate between a Clustered Index (physical row ordering) and a Non-Clustered Index.</a:t>
            </a:r>
          </a:p>
          <a:p>
            <a:r>
              <a:t>- Academic Formulation: Explain Hash Indexes: key-value mapping offering O(1) searches, but unsuitable for range queries.</a:t>
            </a:r>
          </a:p>
          <a:p>
            <a:r>
              <a:t>- Academic Formulation: Discuss the write overhead of indexes: every INSERT, UPDATE, and DELETE statement must update the index structures.</a:t>
            </a:r>
          </a:p>
          <a:p/>
          <a:p>
            <a:r>
              <a:t>TEACHING TIP:</a:t>
            </a:r>
          </a:p>
          <a:p>
            <a:r>
              <a:t>Show a book's index pages as a physical model of a database non-clustered index lookup.</a:t>
            </a:r>
          </a:p>
          <a:p/>
          <a:p>
            <a:r>
              <a:t>CLARIFYING EXAMPLES:</a:t>
            </a:r>
          </a:p>
          <a:p>
            <a:r>
              <a:t>- Clustered Index: table sorted by ID on disk.</a:t>
            </a:r>
          </a:p>
          <a:p>
            <a:r>
              <a:t>- Non-Clustered Index: index on Email column containing pointers to physical disk blocks.</a:t>
            </a:r>
          </a:p>
          <a:p>
            <a:r>
              <a:t>- Hash Index: searching for exactly user_id = 12345 in a large user registry.</a:t>
            </a:r>
          </a:p>
          <a:p>
            <a:r>
              <a:t>- Range Query scan: finding all orders created between Jan 1st and Jan 31st using a B+ Tree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8 INSTRUCTOR NOTES ===</a:t>
            </a:r>
          </a:p>
          <a:p/>
          <a:p>
            <a:r>
              <a:t>TALKING POINTS:</a:t>
            </a:r>
          </a:p>
          <a:p>
            <a:r>
              <a:t>- Academic Formulation: Explain the components of the database Query Optimizer: parser, rewriter, cost estimator, and code generator.</a:t>
            </a:r>
          </a:p>
          <a:p>
            <a:r>
              <a:t>- Academic Formulation: Discuss cost-based optimization (CBO): choosing plans based on disk I/O, CPU cycles, and table statistics.</a:t>
            </a:r>
          </a:p>
          <a:p>
            <a:r>
              <a:t>- Academic Formulation: Explain how Seq Scan, Index Scan, and Index-Only Scans work under the hood.</a:t>
            </a:r>
          </a:p>
          <a:p>
            <a:r>
              <a:t>- Academic Formulation: Compare Join execution plans: Nested Loop join, Hash Join, and Merge Join.</a:t>
            </a:r>
          </a:p>
          <a:p>
            <a:r>
              <a:t>- Academic Formulation: Demonstrate how to read execution plan outputs using the EXPLAIN command.</a:t>
            </a:r>
          </a:p>
          <a:p>
            <a:r>
              <a:t>- Academic Formulation: List optimization best practices: avoiding SELECT *, using query filters early, and updating optimizer statistics.</a:t>
            </a:r>
          </a:p>
          <a:p/>
          <a:p>
            <a:r>
              <a:t>TEACHING TIP:</a:t>
            </a:r>
          </a:p>
          <a:p>
            <a:r>
              <a:t>Run a simulated EXPLAIN command on the board and ask students to identify where a table scan is slowing down execution.</a:t>
            </a:r>
          </a:p>
          <a:p/>
          <a:p>
            <a:r>
              <a:t>CLARIFYING EXAMPLES:</a:t>
            </a:r>
          </a:p>
          <a:p>
            <a:r>
              <a:t>- Seq Scan vs Index Scan: scanning 10 million rows sequentially vs reading 2 index leaf blocks.</a:t>
            </a:r>
          </a:p>
          <a:p>
            <a:r>
              <a:t>- Nested Loop: joining a tiny lookup table to a small customer table.</a:t>
            </a:r>
          </a:p>
          <a:p>
            <a:r>
              <a:t>- Hash Join: joining two massive tables by creating an in-memory hash table for the right relation.</a:t>
            </a:r>
          </a:p>
          <a:p>
            <a:r>
              <a:t>- Explain Output: showing a plan cost rating of 'rows=1000 width=45' in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9 INSTRUCTOR NOTES ===</a:t>
            </a:r>
          </a:p>
          <a:p/>
          <a:p>
            <a:r>
              <a:t>TALKING POINTS:</a:t>
            </a:r>
          </a:p>
          <a:p>
            <a:r>
              <a:t>- Academic Formulation: Introduce the concept of Computer Networks: interconnecting computing systems to share resources.</a:t>
            </a:r>
          </a:p>
          <a:p>
            <a:r>
              <a:t>- Academic Formulation: Detail the OSI Reference Model: Physical, Data Link, Network, Transport, Session, Presentation, Application layers.</a:t>
            </a:r>
          </a:p>
          <a:p>
            <a:r>
              <a:t>- Academic Formulation: Compare the OSI model with the practical 4-layer TCP/IP Suite (Link, Internet, Transport, Application).</a:t>
            </a:r>
          </a:p>
          <a:p>
            <a:r>
              <a:t>- Academic Formulation: Explain data encapsulation: adding headers (IP, TCP, Ethernet) and trailers (CRC) at each stack boundary.</a:t>
            </a:r>
          </a:p>
          <a:p>
            <a:r>
              <a:t>- Academic Formulation: Describe physical network topologies: star, bus, ring, and full-mesh connection layouts.</a:t>
            </a:r>
          </a:p>
          <a:p>
            <a:r>
              <a:t>- Academic Formulation: Discuss network performance metrics: bandwidth, throughput, latency, jitter, and packet loss.</a:t>
            </a:r>
          </a:p>
          <a:p/>
          <a:p>
            <a:r>
              <a:t>TEACHING TIP:</a:t>
            </a:r>
          </a:p>
          <a:p>
            <a:r>
              <a:t>Trace a single message's encapsulation path from an Application down to copper Ethernet wires on the board.</a:t>
            </a:r>
          </a:p>
          <a:p/>
          <a:p>
            <a:r>
              <a:t>CLARIFYING EXAMPLES:</a:t>
            </a:r>
          </a:p>
          <a:p>
            <a:r>
              <a:t>- Application Layer payload: HTTP GET request message.</a:t>
            </a:r>
          </a:p>
          <a:p>
            <a:r>
              <a:t>- Transport Layer segment: TCP segment with source and destination ports.</a:t>
            </a:r>
          </a:p>
          <a:p>
            <a:r>
              <a:t>- Network Layer packet: IP packet with routing addresses.</a:t>
            </a:r>
          </a:p>
          <a:p>
            <a:r>
              <a:t>- Link Layer frame: Ethernet frame with physical MAC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10 INSTRUCTOR NOTES ===</a:t>
            </a:r>
          </a:p>
          <a:p/>
          <a:p>
            <a:r>
              <a:t>TALKING POINTS:</a:t>
            </a:r>
          </a:p>
          <a:p>
            <a:r>
              <a:t>- Academic Formulation: Discuss the Physical Layer: modulating digital bits into electrical, light, or radio signals.</a:t>
            </a:r>
          </a:p>
          <a:p>
            <a:r>
              <a:t>- Academic Formulation: Introduce guided media (fiber-optic cables, copper twisted pair) vs unguided wireless channels.</a:t>
            </a:r>
          </a:p>
          <a:p>
            <a:r>
              <a:t>- Academic Formulation: Explain Data Link Layer framing: identifying frame starts and ends using bit stuffing.</a:t>
            </a:r>
          </a:p>
          <a:p>
            <a:r>
              <a:t>- Academic Formulation: Discuss Error Detection: parity checks, internet checksums, and Cyclic Redundancy Checks (CRC) via polynomial division.</a:t>
            </a:r>
          </a:p>
          <a:p>
            <a:r>
              <a:t>- Academic Formulation: Explain Medium Access Control (MAC): CSMA/CD for wired networks (detecting collision conflicts) and CSMA/CA for wireless networks.</a:t>
            </a:r>
          </a:p>
          <a:p>
            <a:r>
              <a:t>- Academic Formulation: Differentiate between physical hardware devices: hubs (layer 1 repeating) vs switches (layer 2 MAC routing).</a:t>
            </a:r>
          </a:p>
          <a:p/>
          <a:p>
            <a:r>
              <a:t>TEACHING TIP:</a:t>
            </a:r>
          </a:p>
          <a:p>
            <a:r>
              <a:t>Use the analogy of a group of people talking in a dark room to explain CSMA/CD collision detection.</a:t>
            </a:r>
          </a:p>
          <a:p/>
          <a:p>
            <a:r>
              <a:t>CLARIFYING EXAMPLES:</a:t>
            </a:r>
          </a:p>
          <a:p>
            <a:r>
              <a:t>- Fiber-optic communication: using light pulses to transmit gigabits over continental distances.</a:t>
            </a:r>
          </a:p>
          <a:p>
            <a:r>
              <a:t>- CRC check: a network card calculating the checksum of a frame and discarding a corrupted WiFi packet.</a:t>
            </a:r>
          </a:p>
          <a:p>
            <a:r>
              <a:t>- CSMA/CD: a computer waiting for a silent line before transmitting, and sending a jam signal on collision.</a:t>
            </a:r>
          </a:p>
          <a:p>
            <a:r>
              <a:t>- Switch lookup: a layer 2 switch forwarding a frame exclusively to port 4 based on its internal MAC address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11 INSTRUCTOR NOTES ===</a:t>
            </a:r>
          </a:p>
          <a:p/>
          <a:p>
            <a:r>
              <a:t>TALKING POINTS:</a:t>
            </a:r>
          </a:p>
          <a:p>
            <a:r>
              <a:t>- Academic Formulation: Explain the Network Layer's primary job: routing packets across heterogeneous network domains.</a:t>
            </a:r>
          </a:p>
          <a:p>
            <a:r>
              <a:t>- Academic Formulation: Contrast IPv4 (32-bit addresses in dot-decimal notation) with IPv6 (128-bit hexadecimal notation).</a:t>
            </a:r>
          </a:p>
          <a:p>
            <a:r>
              <a:t>- Academic Formulation: Explain Subnet Masking: applying bitwise AND operations to extract network IDs from IP addresses.</a:t>
            </a:r>
          </a:p>
          <a:p>
            <a:r>
              <a:t>- Academic Formulation: Detail Classless Inter-Domain Routing (CIDR) notation and network allocation maps.</a:t>
            </a:r>
          </a:p>
          <a:p>
            <a:r>
              <a:t>- Academic Formulation: Compare routing algorithms: Distance Vector (Bellman-Ford algorithm) vs Link State (Dijkstra's shortest path algorithm).</a:t>
            </a:r>
          </a:p>
          <a:p>
            <a:r>
              <a:t>- Academic Formulation: Discuss Border Gateway Protocol (BGP): the path-vector routing protocol that connects Autonomous Systems across the global internet.</a:t>
            </a:r>
          </a:p>
          <a:p/>
          <a:p>
            <a:r>
              <a:t>TEACHING TIP:</a:t>
            </a:r>
          </a:p>
          <a:p>
            <a:r>
              <a:t>Calculate a subnet ID from an IP (e.g. 192.168.1.55/24) on the board with the students.</a:t>
            </a:r>
          </a:p>
          <a:p/>
          <a:p>
            <a:r>
              <a:t>CLARIFYING EXAMPLES:</a:t>
            </a:r>
          </a:p>
          <a:p>
            <a:r>
              <a:t>- IP mapping: CIDR address 10.0.0.0/16 reserving first 16 bits for network ID (65,534 hosts).</a:t>
            </a:r>
          </a:p>
          <a:p>
            <a:r>
              <a:t>- Dijkstra's algorithm: OSPF calculating the shortest path between routers based on line bandwidth metrics.</a:t>
            </a:r>
          </a:p>
          <a:p>
            <a:r>
              <a:t>- BGP update: internet routers updating path lists when an optical cable in the Atlantic Ocean is cut.</a:t>
            </a:r>
          </a:p>
          <a:p>
            <a:r>
              <a:t>- NAT routing: home routers mapping private IPs to a single public 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12 INSTRUCTOR NOTES ===</a:t>
            </a:r>
          </a:p>
          <a:p/>
          <a:p>
            <a:r>
              <a:t>TALKING POINTS:</a:t>
            </a:r>
          </a:p>
          <a:p>
            <a:r>
              <a:t>- Academic Formulation: Introduce the Transport Layer: end-to-end logical communication between application processes.</a:t>
            </a:r>
          </a:p>
          <a:p>
            <a:r>
              <a:t>- Academic Formulation: Compare TCP (connection-oriented, reliable, ordered stream) vs UDP (connectionless, lightweight datagram flow).</a:t>
            </a:r>
          </a:p>
          <a:p>
            <a:r>
              <a:t>- Academic Formulation: Detail the TCP 3-way handshake: Client SYN -&gt; Server SYN-ACK -&gt; Client ACK.</a:t>
            </a:r>
          </a:p>
          <a:p>
            <a:r>
              <a:t>- Academic Formulation: Explain TCP reliability: sequence numbers for ordering, checksums, and Retransmission Timeouts (RTO).</a:t>
            </a:r>
          </a:p>
          <a:p>
            <a:r>
              <a:t>- Academic Formulation: Discuss TCP Sliding Window: flow control mechanism preventing the sender from overwhelming the receiver's buffer.</a:t>
            </a:r>
          </a:p>
          <a:p>
            <a:r>
              <a:t>- Academic Formulation: Analyze TCP Congestion Control: managing network capacity using Slow Start, Congestion Avoidance, and Fast Recovery.</a:t>
            </a:r>
          </a:p>
          <a:p/>
          <a:p>
            <a:r>
              <a:t>TEACHING TIP:</a:t>
            </a:r>
          </a:p>
          <a:p>
            <a:r>
              <a:t>Act out a 3-way handshake with a student to show how sequence numbers are synchronized.</a:t>
            </a:r>
          </a:p>
          <a:p/>
          <a:p>
            <a:r>
              <a:t>CLARIFYING EXAMPLES:</a:t>
            </a:r>
          </a:p>
          <a:p>
            <a:r>
              <a:t>- UDP usage: online gaming or live video streaming where low latency matters more than lost frames.</a:t>
            </a:r>
          </a:p>
          <a:p>
            <a:r>
              <a:t>- TCP usage: downloading a file or fetching a web page where data accuracy is critical.</a:t>
            </a:r>
          </a:p>
          <a:p>
            <a:r>
              <a:t>- Handshake SYN flag: client sending SYN (seq=100) to server to initiate connection.</a:t>
            </a:r>
          </a:p>
          <a:p>
            <a:r>
              <a:t>- Congestion collapse: network packets drop, triggers timeout, sender resends, worsening network congestion.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13 INSTRUCTOR NOTES ===</a:t>
            </a:r>
          </a:p>
          <a:p/>
          <a:p>
            <a:r>
              <a:t>TALKING POINTS:</a:t>
            </a:r>
          </a:p>
          <a:p>
            <a:r>
              <a:t>- Academic Formulation: Introduce the Object-Oriented Programming (OOP) paradigm, emphasizing structure and modularity.</a:t>
            </a:r>
          </a:p>
          <a:p>
            <a:r>
              <a:t>- Academic Formulation: Define a Class: a user-defined blueprint containing attributes (state) and methods (behavior).</a:t>
            </a:r>
          </a:p>
          <a:p>
            <a:r>
              <a:t>- Academic Formulation: Define an Object: an instance of a class allocated in memory during program runtime.</a:t>
            </a:r>
          </a:p>
          <a:p>
            <a:r>
              <a:t>- Academic Formulation: Explain Encapsulation: wrapping data and methods, and restricting direct access via access modifiers.</a:t>
            </a:r>
          </a:p>
          <a:p>
            <a:r>
              <a:t>- Academic Formulation: Discuss visibilities: public (global access), private (same class only), and protected (class and subclasses).</a:t>
            </a:r>
          </a:p>
          <a:p>
            <a:r>
              <a:t>- Academic Formulation: Explain Abstraction: using interfaces or simple class declarations to hide complex implementation details.</a:t>
            </a:r>
          </a:p>
          <a:p/>
          <a:p>
            <a:r>
              <a:t>TEACHING TIP:</a:t>
            </a:r>
          </a:p>
          <a:p>
            <a:r>
              <a:t>Draw a blueprint of a house (Class) vs actual houses built in a neighborhood (Objects) on the whiteboard.</a:t>
            </a:r>
          </a:p>
          <a:p/>
          <a:p>
            <a:r>
              <a:t>CLARIFYING EXAMPLES:</a:t>
            </a:r>
          </a:p>
          <a:p>
            <a:r>
              <a:t>- Encapsulation: making employee salary private and exposing a public getSalary() method with access checks.</a:t>
            </a:r>
          </a:p>
          <a:p>
            <a:r>
              <a:t>- Class declaration: public class Account { private double balance; public void deposit(double amt) {...} }.</a:t>
            </a:r>
          </a:p>
          <a:p>
            <a:r>
              <a:t>- Object creation: Account myAcc = new Account();.</a:t>
            </a:r>
          </a:p>
          <a:p>
            <a:r>
              <a:t>- Abstraction: using a car dashboard (steering wheel, pedals) without knowing how the internal combustion engine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14 INSTRUCTOR NOTES ===</a:t>
            </a:r>
          </a:p>
          <a:p/>
          <a:p>
            <a:r>
              <a:t>TALKING POINTS:</a:t>
            </a:r>
          </a:p>
          <a:p>
            <a:r>
              <a:t>- Academic Formulation: Define Inheritance: mechanism where a child class acquires the properties and behaviors of a parent class.</a:t>
            </a:r>
          </a:p>
          <a:p>
            <a:r>
              <a:t>- Academic Formulation: Discuss inheritance hierarchies: parent-child structures establishing an 'is-a' relational link.</a:t>
            </a:r>
          </a:p>
          <a:p>
            <a:r>
              <a:t>- Academic Formulation: Analyze Inheritance types: single, multilevel, hierarchical, and the diamond problem in multiple inheritance.</a:t>
            </a:r>
          </a:p>
          <a:p>
            <a:r>
              <a:t>- Academic Formulation: Define Polymorphism: the ability of a single interface or message to represent different forms.</a:t>
            </a:r>
          </a:p>
          <a:p>
            <a:r>
              <a:t>- Academic Formulation: Explain Compile-time Polymorphism: function and operator overloading resolved at compile time.</a:t>
            </a:r>
          </a:p>
          <a:p>
            <a:r>
              <a:t>- Academic Formulation: Explain Runtime Polymorphism: method overriding, dynamic binding, and virtual function dispatch tables.</a:t>
            </a:r>
          </a:p>
          <a:p/>
          <a:p>
            <a:r>
              <a:t>TEACHING TIP:</a:t>
            </a:r>
          </a:p>
          <a:p>
            <a:r>
              <a:t>Ask students how compilers resolve overridden methods when a parent reference points to a child object.</a:t>
            </a:r>
          </a:p>
          <a:p/>
          <a:p>
            <a:r>
              <a:t>CLARIFYING EXAMPLES:</a:t>
            </a:r>
          </a:p>
          <a:p>
            <a:r>
              <a:t>- Inheritance: class Dog extends Animal (Dog is an Animal).</a:t>
            </a:r>
          </a:p>
          <a:p>
            <a:r>
              <a:t>- Method Overloading: calculateArea(int radius) vs calculateArea(int length, int width) in same class.</a:t>
            </a:r>
          </a:p>
          <a:p>
            <a:r>
              <a:t>- Method Overriding: parent Animal.makeSound() print 'Generic Sound', child Cat.makeSound() print 'Meow'.</a:t>
            </a:r>
          </a:p>
          <a:p>
            <a:r>
              <a:t>- Diamond Problem: class C inherits from A and B, which both inherit from Base, causing compiler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15 INSTRUCTOR NOTES ===</a:t>
            </a:r>
          </a:p>
          <a:p/>
          <a:p>
            <a:r>
              <a:t>TALKING POINTS:</a:t>
            </a:r>
          </a:p>
          <a:p>
            <a:r>
              <a:t>- Academic Formulation: Compare Abstract Classes vs Interfaces: abstract classes share state and methods; interfaces define pure behavior contracts.</a:t>
            </a:r>
          </a:p>
          <a:p>
            <a:r>
              <a:t>- Academic Formulation: Discuss loose coupling: designing systems so components have minimal dependencies on each other's details.</a:t>
            </a:r>
          </a:p>
          <a:p>
            <a:r>
              <a:t>- Academic Formulation: Explain high cohesion: grouping related functionalities tightly inside a single class or module.</a:t>
            </a:r>
          </a:p>
          <a:p>
            <a:r>
              <a:t>- Academic Formulation: Introduce Creational Design Patterns: Factory Method for object creation, and Singleton for single-instance control.</a:t>
            </a:r>
          </a:p>
          <a:p>
            <a:r>
              <a:t>- Academic Formulation: Introduce Structural Design Patterns: Adapter pattern mapping interface compatibilities.</a:t>
            </a:r>
          </a:p>
          <a:p>
            <a:r>
              <a:t>- Academic Formulation: Introduce Behavioral Design Patterns: Observer pattern managing state change notifications across decoupled objects.</a:t>
            </a:r>
          </a:p>
          <a:p/>
          <a:p>
            <a:r>
              <a:t>TEACHING TIP:</a:t>
            </a:r>
          </a:p>
          <a:p>
            <a:r>
              <a:t>Show how an electrical wall socket acts as a physical interface contract separating power production from appliances.</a:t>
            </a:r>
          </a:p>
          <a:p/>
          <a:p>
            <a:r>
              <a:t>CLARIFYING EXAMPLES:</a:t>
            </a:r>
          </a:p>
          <a:p>
            <a:r>
              <a:t>- Interface contract: interface SecureConnection { void connect(); void disconnect(); }.</a:t>
            </a:r>
          </a:p>
          <a:p>
            <a:r>
              <a:t>- Singleton pattern: database connection pool manager class ensuring only one manager instance exists.</a:t>
            </a:r>
          </a:p>
          <a:p>
            <a:r>
              <a:t>- Factory method: creating different Document objects (PDF, Word) based on user selections.</a:t>
            </a:r>
          </a:p>
          <a:p>
            <a:r>
              <a:t>- Observer pattern: newsletter subscription where users (observers) are notified of new posts (subject).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16 INSTRUCTOR NOTES ===</a:t>
            </a:r>
          </a:p>
          <a:p/>
          <a:p>
            <a:r>
              <a:t>TALKING POINTS:</a:t>
            </a:r>
          </a:p>
          <a:p>
            <a:r>
              <a:t>- Academic Formulation: Introduce the SOLID principles of Object-Oriented design, formulated by Robert C. Martin.</a:t>
            </a:r>
          </a:p>
          <a:p>
            <a:r>
              <a:t>- Academic Formulation: Explain the Single Responsibility Principle (SRP): a class should have only one reason to change.</a:t>
            </a:r>
          </a:p>
          <a:p>
            <a:r>
              <a:t>- Academic Formulation: Detail the Open-Closed Principle (OCP): software entities should be open for extension but closed for modification.</a:t>
            </a:r>
          </a:p>
          <a:p>
            <a:r>
              <a:t>- Academic Formulation: Explain the Liskov Substitution Principle (LSP): objects of a superclass should be replaceable with subclasses without breaking the app.</a:t>
            </a:r>
          </a:p>
          <a:p>
            <a:r>
              <a:t>- Academic Formulation: Detail the Interface Segregation Principle (ISP): split bloated interfaces into smaller, client-specific interfaces.</a:t>
            </a:r>
          </a:p>
          <a:p>
            <a:r>
              <a:t>- Academic Formulation: Explain the Dependency Inversion Principle (DIP): depend on abstractions (interfaces) rather than concrete implementations.</a:t>
            </a:r>
          </a:p>
          <a:p/>
          <a:p>
            <a:r>
              <a:t>TEACHING TIP:</a:t>
            </a:r>
          </a:p>
          <a:p>
            <a:r>
              <a:t>Show how violating Liskov Substitution (e.g. Ostrich inheriting from FlyingBird) leads to runtime crashes.</a:t>
            </a:r>
          </a:p>
          <a:p/>
          <a:p>
            <a:r>
              <a:t>CLARIFYING EXAMPLES:</a:t>
            </a:r>
          </a:p>
          <a:p>
            <a:r>
              <a:t>- SRP: separating user validation logic from user database persistence logic into separate classes.</a:t>
            </a:r>
          </a:p>
          <a:p>
            <a:r>
              <a:t>- OCP: using a Strategy pattern to add new payment methods without modifying the central checkout class.</a:t>
            </a:r>
          </a:p>
          <a:p>
            <a:r>
              <a:t>- LSP: a Rectangle class and a Square class; if Square violates Rectangle's height/width invariants, it violates LSP.</a:t>
            </a:r>
          </a:p>
          <a:p>
            <a:r>
              <a:t>- DIP: a UserProfile class depending on a DatabaseInterface rather than a concrete PostgreSQLConnection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17 INSTRUCTOR NOTES ===</a:t>
            </a:r>
          </a:p>
          <a:p/>
          <a:p>
            <a:r>
              <a:t>TALKING POINTS:</a:t>
            </a:r>
          </a:p>
          <a:p>
            <a:r>
              <a:t>- Academic Formulation: Define the role of the Operating System: allocating hardware, managing memory, and providing a runtime environment.</a:t>
            </a:r>
          </a:p>
          <a:p>
            <a:r>
              <a:t>- Academic Formulation: Compare Kernel architectures: Monolithic kernels vs microkernels.</a:t>
            </a:r>
          </a:p>
          <a:p>
            <a:r>
              <a:t>- Academic Formulation: Introduce CPU Scheduling: the OS scheduler selecting ready processes from queue to execute on CPU cores.</a:t>
            </a:r>
          </a:p>
          <a:p>
            <a:r>
              <a:t>- Academic Formulation: Explain the Process States: transitioning from New to Ready, Running, Waiting, and Terminated states.</a:t>
            </a:r>
          </a:p>
          <a:p>
            <a:r>
              <a:t>- Academic Formulation: Discuss Preemptive vs Non-Preemptive scheduling algorithms.</a:t>
            </a:r>
          </a:p>
          <a:p>
            <a:r>
              <a:t>- Academic Formulation: Analyze scheduling policies: Round Robin, First-Come-First-Serve, Shortest Job First, and Priority Scheduling.</a:t>
            </a:r>
          </a:p>
          <a:p/>
          <a:p>
            <a:r>
              <a:t>TEACHING TIP:</a:t>
            </a:r>
          </a:p>
          <a:p>
            <a:r>
              <a:t>Draw the process state transition circle on the whiteboard, tracing timer interrupts and I/O waits.</a:t>
            </a:r>
          </a:p>
          <a:p/>
          <a:p>
            <a:r>
              <a:t>CLARIFYING EXAMPLES:</a:t>
            </a:r>
          </a:p>
          <a:p>
            <a:r>
              <a:t>- Monolithic kernel: Linux containing device drivers, file system, and scheduler in kernel space.</a:t>
            </a:r>
          </a:p>
          <a:p>
            <a:r>
              <a:t>- Microkernel: Mach or QNX running drivers and file systems as user-space daemons.</a:t>
            </a:r>
          </a:p>
          <a:p>
            <a:r>
              <a:t>- Round Robin: scheduler allocating 10ms timeslices to active processes to provide multitasking.</a:t>
            </a:r>
          </a:p>
          <a:p>
            <a:r>
              <a:t>- I/O Interrupt: process reading a file transitions from Running state to Waiting state until the disk read completes.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18 INSTRUCTOR NOTES ===</a:t>
            </a:r>
          </a:p>
          <a:p/>
          <a:p>
            <a:r>
              <a:t>TALKING POINTS:</a:t>
            </a:r>
          </a:p>
          <a:p>
            <a:r>
              <a:t>- Academic Formulation: Explain the difference between a Process (isolated memory space) and a Thread (lightweight unit sharing memory).</a:t>
            </a:r>
          </a:p>
          <a:p>
            <a:r>
              <a:t>- Academic Formulation: Discuss multi-threaded programming benefits: responsiveness, resource sharing, and parallel execution.</a:t>
            </a:r>
          </a:p>
          <a:p>
            <a:r>
              <a:t>- Academic Formulation: Explain Race Conditions: occurrences when multiple threads access and modify shared data concurrently.</a:t>
            </a:r>
          </a:p>
          <a:p>
            <a:r>
              <a:t>- Academic Formulation: Define Critical Section: block of code accessing shared resources that must execute with mutual exclusion.</a:t>
            </a:r>
          </a:p>
          <a:p>
            <a:r>
              <a:t>- Academic Formulation: Introduce Mutexes (Mutual Exclusion locks) to ensure only one thread enters the critical section.</a:t>
            </a:r>
          </a:p>
          <a:p>
            <a:r>
              <a:t>- Academic Formulation: Explain Semaphores: counting semaphores managing resource pools, and binary semaphores acting as locks.</a:t>
            </a:r>
          </a:p>
          <a:p/>
          <a:p>
            <a:r>
              <a:t>TEACHING TIP:</a:t>
            </a:r>
          </a:p>
          <a:p>
            <a:r>
              <a:t>Use the analogy of a bathroom key in a coffee shop to explain how a Mutex locks access to a shared resource.</a:t>
            </a:r>
          </a:p>
          <a:p/>
          <a:p>
            <a:r>
              <a:t>CLARIFYING EXAMPLES:</a:t>
            </a:r>
          </a:p>
          <a:p>
            <a:r>
              <a:t>- Race Condition: two threads running balance += 100 concurrently, resulting in lost updates due to interleaved execution.</a:t>
            </a:r>
          </a:p>
          <a:p>
            <a:r>
              <a:t>- Mutex lock: thread calling lock() before incrementing a counter, and unlock() immediately after.</a:t>
            </a:r>
          </a:p>
          <a:p>
            <a:r>
              <a:t>- Counting Semaphore: a semaphore initialized to 3 to manage access to a connection pool with 3 available database connections.</a:t>
            </a:r>
          </a:p>
          <a:p>
            <a:r>
              <a:t>- Producer-Consumer problem: threads synchronization using semaphores to prevent buffer overflow/underflow.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19 INSTRUCTOR NOTES ===</a:t>
            </a:r>
          </a:p>
          <a:p/>
          <a:p>
            <a:r>
              <a:t>TALKING POINTS:</a:t>
            </a:r>
          </a:p>
          <a:p>
            <a:r>
              <a:t>- Academic Formulation: Explain physical memory limitations and the necessity of virtual memory abstractions.</a:t>
            </a:r>
          </a:p>
          <a:p>
            <a:r>
              <a:t>- Academic Formulation: Discuss Virtual Memory: separating logical user memory from physical memory space.</a:t>
            </a:r>
          </a:p>
          <a:p>
            <a:r>
              <a:t>- Academic Formulation: Detail Paging: breaking physical memory into frames and virtual memory into pages.</a:t>
            </a:r>
          </a:p>
          <a:p>
            <a:r>
              <a:t>- Academic Formulation: Explain Page Table: system structures translating virtual addresses to physical frame locations.</a:t>
            </a:r>
          </a:p>
          <a:p>
            <a:r>
              <a:t>- Academic Formulation: Explain Page Faults: hardware interrupts triggered when a page referenced by the CPU is not loaded in RAM.</a:t>
            </a:r>
          </a:p>
          <a:p>
            <a:r>
              <a:t>- Academic Formulation: Analyze Page Replacement algorithms: Least Recently Used (LRU), First-In-First-Out (FIFO), and Optimal replacement.</a:t>
            </a:r>
          </a:p>
          <a:p/>
          <a:p>
            <a:r>
              <a:t>TEACHING TIP:</a:t>
            </a:r>
          </a:p>
          <a:p>
            <a:r>
              <a:t>Trace a virtual-to-physical address translation using a small Page Table on the board.</a:t>
            </a:r>
          </a:p>
          <a:p/>
          <a:p>
            <a:r>
              <a:t>CLARIFYING EXAMPLES:</a:t>
            </a:r>
          </a:p>
          <a:p>
            <a:r>
              <a:t>- Virtual Address: CPU addressing page 4 offset 100, translated via page table to physical frame 12 offset 100.</a:t>
            </a:r>
          </a:p>
          <a:p>
            <a:r>
              <a:t>- Page Fault: process requesting a page that resides in secondary swap space, triggering OS disk fetch.</a:t>
            </a:r>
          </a:p>
          <a:p>
            <a:r>
              <a:t>- LRU algorithm: discarding the page that has not been accessed for the longest time to free up a frame.</a:t>
            </a:r>
          </a:p>
          <a:p>
            <a:r>
              <a:t>- Thrashing: an OS spending more time swapping pages in and out of disk than executing processes due to low free 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=== SLIDE 20 INSTRUCTOR NOTES ===</a:t>
            </a:r>
          </a:p>
          <a:p/>
          <a:p>
            <a:r>
              <a:t>TALKING POINTS:</a:t>
            </a:r>
          </a:p>
          <a:p>
            <a:r>
              <a:t>- Academic Formulation: Define Deadlock: a permanent state of blocking where processes wait for resources held by each other.</a:t>
            </a:r>
          </a:p>
          <a:p>
            <a:r>
              <a:t>- Academic Formulation: Outline the 4 Coffman conditions: Mutual Exclusion, Hold and Wait, No Preemption, and Circular Wait.</a:t>
            </a:r>
          </a:p>
          <a:p>
            <a:r>
              <a:t>- Academic Formulation: Discuss Resource Allocation Graphs (RAG) and how loops in the graph represent deadlocks.</a:t>
            </a:r>
          </a:p>
          <a:p>
            <a:r>
              <a:t>- Academic Formulation: Explain Deadlock Prevention: breaking one of the 4 Coffman conditions (e.g. requesting all resources at once).</a:t>
            </a:r>
          </a:p>
          <a:p>
            <a:r>
              <a:t>- Academic Formulation: Explain Deadlock Avoidance: dynamically checking resource allocations using Banker's Algorithm.</a:t>
            </a:r>
          </a:p>
          <a:p>
            <a:r>
              <a:t>- Academic Formulation: Discuss Deadlock Detection &amp; Recovery: running cycle detection algorithms and aborting deadlocked processes.</a:t>
            </a:r>
          </a:p>
          <a:p/>
          <a:p>
            <a:r>
              <a:t>TEACHING TIP:</a:t>
            </a:r>
          </a:p>
          <a:p>
            <a:r>
              <a:t>Ask students to analyze a crossroads traffic gridlock to explain how Hold-and-Wait and Circular-Wait occur.</a:t>
            </a:r>
          </a:p>
          <a:p/>
          <a:p>
            <a:r>
              <a:t>CLARIFYING EXAMPLES:</a:t>
            </a:r>
          </a:p>
          <a:p>
            <a:r>
              <a:t>- Circular Wait: Process 1 holds Printer and waits for Scanner; Process 2 holds Scanner and waits for Printer.</a:t>
            </a:r>
          </a:p>
          <a:p>
            <a:r>
              <a:t>- Hold and Wait: process requesting resource B while holding resource A, instead of releasing A first.</a:t>
            </a:r>
          </a:p>
          <a:p>
            <a:r>
              <a:t>- Banker's Algorithm: OS verifying if allocating 2 tapes leaves enough tapes to guarantee at least one process finishes safely.</a:t>
            </a:r>
          </a:p>
          <a:p>
            <a:r>
              <a:t>- Deadlock recovery: database system automatically terminating and rolling back the younger transaction to break a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EA5E9"/>
                </a:solidFill>
                <a:latin typeface="Georgia"/>
              </a:defRPr>
            </a:pPr>
            <a:r>
              <a:t>Core Computer Science Foundations: Course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3657600"/>
            <a:ext cx="45720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4A3B8"/>
                </a:solidFill>
                <a:latin typeface="Arial"/>
              </a:defRPr>
            </a:pPr>
            <a:r>
              <a:t>INTELLIGENT EDUCATION WORKFLOWS • KALYX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DBMS: The Relational Model &amp;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Relational Model: Data represented as mathematical relations (tables) with rows (tuples) and columns (attributes)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Data Integrity: Enforcing domain constraints, entity integrity (primary keys), and referential integrity (foreign keys)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Functional Dependencies: Determining attributes mapping X -&gt; Y to identify redundancy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Schema Normalization: Process of decomposing tables to achieve 1NF, 2NF, 3NF, and BCNF structures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Anomalies Management: Preventing insertion, update, and deletion discrepancies via schema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Entity-Relationship model schema diagram highlighting Primary Key to Foreign Key relationships.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DBMS: ACID Properties &amp; Transaction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Atomicity: Ensures all operations within a transaction complete successfully, or all are rolled back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Consistency: Guarantees that a transaction transforms the database from one valid state to another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Isolation: Execution of concurrent transactions does not interfere with each other (transaction schedules)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Durability: Completed transactions are written to persistent storage, surviving subsequent power outages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State Transitions: Mapping transaction states from active to committed, failed, or aborted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Block diagram outlining Transaction states: Active, Partially Committed, Committed, Failed, Aborted.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DBMS: Database Concurrency Control &amp;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Concurrency Anomalies: Dirty reads, non-repeatable reads, phantom reads, and lost updates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Lock-Based Protocols: Two-Phase Locking (2PL) ensuring serializability, and Strict 2PL to prevent cascading aborts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Timestamp Ordering: Assigning unique execution timestamps to resolve write-read conflicts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Write-Ahead Logging (WAL): Write changes to transaction log on disk before modifying database blocks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ACID Recovery Manager: Replaying log operations (REDO/UNDO) upon database system startup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Timeline chart comparing serial execution vs interleaved execution schedules.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SQL: Data Definition vs Manipulation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DDL (Data Definition Language): Structural statements like CREATE, ALTER, DROP, and TRUNCATE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DML (Data Manipulation Language): Data-level operations like SELECT, INSERT, UPDATE, and DELETE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DCL and TCL: Managing access permissions (GRANT/REVOKE) and transaction states (COMMIT/ROLLBACK)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Constraints mapping: Applying UNIQUE, NOT NULL, DEFAULT, and CHECK constraints to tables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Savepoint Management: Implementing sub-transaction checkpoints to roll back partial transaction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Dual-pane code layout comparing a table creation statement vs an insertion query.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SQL: Complex Joins &amp; Subqueries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Join Taxonomy: INNER JOIN, LEFT/RIGHT OUTER JOIN, FULL OUTER JOIN, and CROSS JOIN operations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Subquery Classifications: Nested subqueries, correlated subqueries, and scalar vs multi-row subqueries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Set Operations: Combining query results using UNION, UNION ALL, INTERSECT, and EXCEPT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Common Table Expressions (CTEs): Writing readable hierarchical queries using WITH clauses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Performance implications: Correlated subquery execution cost compared to JOIN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Venn diagrams representing the mathematical intersections of different SQL Joins.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SQL: Database Indexes &amp; Query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Index Structures: B+ Tree indexes for range scans and sorting, Hash indexes for fast point lookups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Clustered Index: Physical sorting order of rows on disk matches index order (one per table)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Non-Clustered Index: Index contains pointers to actual data row addresses (multiple per table)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Index Overhead: Speeding up read queries at the cost of slower write operations (INSERT/UPDATE)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Index Selection Criteria: Analyzing columns cardinality and search conditions for index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Diagram of a B+ Tree node structure showing root node, internal routing nodes, and linked leaf nodes.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SQL: Query Execution Plans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Query Compiler: Parses query syntax, checks database catalogs, and runs algebraic optimizations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Execution Plan: Blueprint detailing scan operations (Seq Scan, Index Scan) and Join types (Nested Loop, Hash Join)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Explain Commands: Reviewing performance costs using EXPLAIN and EXPLAIN ANALYZE statements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Optimization Strategies: Avoiding SELECT *, utilizing proper indexes, and writing efficient JOIN orders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Statistics Collector: How the query planner uses column distribution histograms to estimate execution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Execution plan tree nodes matching query operators to database access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Computer Networks: Reference Models &amp;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OSI Reference Model: Standardized 7-layer framework from Physical Layer to Application Layer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TCP/IP Suite: Simplified 4-layer model (Link, Internet, Transport, Application) matching internet protocols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Encapsulation: Wrapping payload data with headers/trailers at each layer (Frame, Packet, Segment, Message)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Network topologies: Star, Mesh, Ring, and Bus structures determining structural reliability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Network Metrics: Bandwidth, throughput, latency, jitter, and packet loss rates definitions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Layer comparison columns mapping OSI 7 layers to TCP/IP 4 layers.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Computer Networks: Physical &amp; Data Link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Transmission Media: Guided (fiber-optic, twisted pair) vs unguided (wireless radio, microwave) communication channels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Framing &amp; Flow Control: Chunking packets into physical frames and running Stop-and-Wait or Sliding Window flow rules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Error Detection: Parity checks, Checksum calculations, and Cyclic Redundancy Checks (CRC)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Medium Access Control: Managing shared medium conflicts via CSMA/CD (Ethernet) and CSMA/CA (Wi-Fi)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Layer 2 Hardware: Forwarding frames using MAC address tables on multiport switches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Layout diagram of an Ethernet Frame header, showing Preamble, MAC addresses, EtherType, Payload, and CRC fields.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Computer Networks: Network Layer &amp; IP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IP Addressing: IPv4 32-bit addressing limitations and IPv6 128-bit hexadecimal addressing format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Subnet Masking: Classless Inter-Domain Routing (CIDR) dividing network addresses and host addresses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Routing Algorithms: Distance Vector Routing (RIP) vs Link State Routing (OSPF)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Autonomous Systems: Border Gateway Protocol (BGP) managing inter-domain internet traffic routing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NAT &amp; DHCP: Dynamic Host Configuration Protocol and Network Address Translation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Interactive mapping chart showing path cost updates between neighboring routers.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Computer Networks: Transport Protocols &amp; Congestion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TCP vs UDP: Connection-oriented, reliable stream transmission vs connectionless, low-overhead datagram packet delivery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TCP Connection: Establishing sessions via 3-way handshake (SYN, SYN-ACK, ACK) and closing via 4-way exchange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Reliability mechanisms: Sequence numbers, cumulative acknowledgements, and Retransmission Timeouts (RTO)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Congestion Control: Managing congestion window using Slow Start, Congestion Avoidance, Fast Retransmit, and Fast Recovery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Socket Programming: End-to-end communication channels binding IP addresses and port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Sequence diagram charting a 3-way TCP handshake and subsequent packet transmissions.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OOPS: Core OOP Concepts &amp;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Object-Oriented Paradigm: Modelling systems as collections of autonomous objects combining data and behavior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Encapsulation: Bundling data (attributes) and methods, and restricting access via private, protected, and public visibilities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Abstraction: Hiding internal implementation complexities and exposing only essential interfaces to clients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Classes vs Objects: A class acts as a compile-time blueprint, whereas an object is a runtime memory instance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Constructor Overloading: Initializing objects with varying parameters lists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UML Class diagram detailing class attributes, methods, and access control specifiers.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OOPS: Inheritance Models &amp; Polymorphism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Inheritance: Reusing code by deriving child classes from parent classes, establishing an 'is-a' relationship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Inheritance types: Single, Multiple, Hierarchical, and Multi-level inheritance structures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Compile-time Polymorphism: Function and operator overloading resolving method calls at compile time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Runtime Polymorphism: Method overriding and dynamic dispatch resolving method executions during runtime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Diamond Problem: Resolution methods (C++ virtual inheritance, Java interface contracts) for multiple 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Class inheritance hierarchy tree showing Base class and Derived subclasses with overridden methods.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OOPS: Interface Abstraction &amp; Design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Interfaces vs Abstract Classes: Interfaces define pure capabilities; abstract classes define shared behaviors and states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Coupling &amp; Cohesion: Aiming for loose coupling between components and high cohesion within component methods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Creational Patterns: Factory Method, Singleton, and Builder patterns managing object instantiation logic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Behavioral Patterns: Observer, Strategy, and Command patterns managing component communications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Structural Patterns: Adapter and Decorator configurations adapting existing class classes interfaces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Software architecture diagram representing the Observer pattern relationship.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OOPS: The SOLID Principles of Software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Single Responsibility &amp; Open-Closed: A class should have one reason to change, and be open for extension but closed for modification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Liskov Substitution: Subtypes must be substitutable for their base types without altering application correctness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Interface Segregation: Clients should not be forced to depend on interface methods they do not use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Dependency Inversion: High-level modules should depend on abstractions, not on concrete low-level implementations</a:t>
            </a:r>
          </a:p>
          <a:p>
            <a:pPr>
              <a:spcAft>
                <a:spcPts val="800"/>
              </a:spcAft>
              <a:defRPr sz="1200">
                <a:solidFill>
                  <a:srgbClr val="22C55E"/>
                </a:solidFill>
                <a:latin typeface="Consolas"/>
              </a:defRPr>
            </a:pPr>
            <a:r>
              <a:t>Design Review: Auditing complex OOP codebases against SOLID compliance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SOLID principles diagram mapping each letter to a clean class code example.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Operating Systems: Kernel Architectures &amp;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Operating System: Software that manages computer hardware resources and provides common services for applications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Kernel Architectures: Monolithic kernels (high speed, single memory space) vs Microkernels (modular, secure, IPC-reliant)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Process States: Transitioning between New, Ready, Running, Waiting, and Terminated states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CPU Scheduling: Scheduling algorithms including Round Robin, First-Come-First-Serve, Shortest Job First, and Priority Scheduling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Context Switching: Saving and loading CPU register states in Process Control Blocks (PCBs) during scheduler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Process State Transition diagram showing transitions and interrupt handlers.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Operating Systems: Threads &amp; Sync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Processes vs Threads: A process is an independent execution unit with its own memory; a thread is a lightweight process sharing memory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Race Conditions: Bugs occurring when concurrent threads modify shared variables without synchronization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Critical Section: Thread code execution block that accesses shared memory and must be restricted to single-thread entry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Synchronization Primitives: Mutual Exclusion (Mutex) locks, Semaphores (binary/counting), and Condition Variables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Classic Sync Problems: Resolving the Bounded-Buffer, Readers-Writers, and Dining Philosophers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Thread synchronization diagram showing two threads using a Mutex to access a shared queue.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Operating Systems: Virtual Memory &amp; Paging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Memory Hierarchy: Fast registers and cache, main physical memory (RAM), and slow secondary persistent storage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Virtual Memory: Exposing a large, continuous address space to processes by translating addresses via Page Tables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Paging: Dividing memory into fixed-size frames (physical) and pages (virtual) to eliminate external fragmentation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Page Fault &amp; Replacement: Disk retrieval loops triggered on missing frames, and replacement algorithms (LRU, FIFO)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Thrashing: System performance degradation occurring when physical RAM is insufficient, causing continuous disk paging swaps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Memory Translation diagram mapping Virtual Address to Physical Frame via a Page 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Operating Systems: Deadlock Conditions &amp;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Deadlock Definition: State where a set of processes are blocked because each holds a resource and waits for another resource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Coffman Conditions: Mutual Exclusion, Hold and Wait, No Preemption, and Circular Wait (all must hold for deadlock)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Deadlock Prevention: Disallowing one of the Coffman conditions during system configuration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Deadlock Avoidance &amp; Recovery: Utilizing Banker's Algorithm to verify safe execution states, or terminating deadlocked processes</a:t>
            </a:r>
          </a:p>
          <a:p>
            <a:pPr>
              <a:spcAft>
                <a:spcPts val="1400"/>
              </a:spcAft>
              <a:defRPr sz="1500">
                <a:solidFill>
                  <a:srgbClr val="E2E8F0"/>
                </a:solidFill>
                <a:latin typeface="Arial"/>
              </a:defRPr>
            </a:pPr>
            <a:r>
              <a:t>•  Resource Allocation Graph (RAG): Cycle detection analysis verifying deadlock presence in a running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468880" cy="4389120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VISUAL COMPANION</a:t>
            </a:r>
          </a:p>
          <a:p>
            <a:pPr>
              <a:spcAft>
                <a:spcPts val="800"/>
              </a:spcAft>
              <a:defRPr sz="1100" i="1">
                <a:solidFill>
                  <a:srgbClr val="94A3B8"/>
                </a:solidFill>
                <a:latin typeface="Arial"/>
              </a:defRPr>
            </a:pPr>
            <a:r>
              <a:t>Visual Layout (Sleek Dark Mode): Resource Allocation Graph (RAG) showing a circular wait dependency loop between processes.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